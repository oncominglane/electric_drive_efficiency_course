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9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10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11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1" r:id="rId10"/>
    <p:sldMasterId id="2147483718" r:id="rId11"/>
    <p:sldMasterId id="2147483725" r:id="rId12"/>
  </p:sldMasterIdLst>
  <p:notesMasterIdLst>
    <p:notesMasterId r:id="rId40"/>
  </p:notesMasterIdLst>
  <p:sldIdLst>
    <p:sldId id="283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4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Электромагнитный момент, Н·м</c:v>
          </c:tx>
          <c:spPr>
            <a:solidFill>
              <a:srgbClr val="E84A3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2213A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IPM</c:v>
                </c:pt>
                <c:pt idx="1">
                  <c:v>SPM</c:v>
                </c:pt>
                <c:pt idx="2">
                  <c:v>PMASynRM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317</c:v>
                </c:pt>
                <c:pt idx="1">
                  <c:v>296</c:v>
                </c:pt>
                <c:pt idx="2">
                  <c:v>257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50D-4192-86F0-565E815101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D7DD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ru-RU" sz="975">
                    <a:solidFill>
                      <a:srgbClr val="59677A"/>
                    </a:solidFill>
                  </a:rPr>
                  <a:t>Н·м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9677A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12213A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Потери, кДж</c:v>
          </c:tx>
          <c:spPr>
            <a:solidFill>
              <a:srgbClr val="008D9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Равномерно</c:v>
                </c:pt>
                <c:pt idx="1">
                  <c:v>LQR</c:v>
                </c:pt>
                <c:pt idx="2">
                  <c:v>HDRL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1798.41</c:v>
                </c:pt>
                <c:pt idx="1">
                  <c:v>1602.91</c:v>
                </c:pt>
                <c:pt idx="2">
                  <c:v>1496.84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541-46D5-9115-C979FA81A6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4DCE7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A558D9-D6FC-41BB-9AD3-F7166D72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905BD35-975F-47D6-941C-58EE771F0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5F629C-A72C-42C4-B332-F2DCA92A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591EA08-9472-4386-B46D-33548F1A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DF73226-39D0-4DE4-9F6F-5BF30BD5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BEAA4AD-F2D3-4A8F-A26E-FC9D1DC6D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B848883-50F5-421D-AF92-3AB40F427E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88CA38A-4A31-4839-995C-336B3744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620DB48-E567-488C-B0ED-675016E47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6F2823-4419-4A6B-B77A-851AF83C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2C2342D-A385-4F2F-860F-CDBE92DF4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AD26B66-F647-4E17-AEFE-10189507B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5FC476-15BC-4E1B-9018-BBB062A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061A3DA-3AED-4572-A5A7-FCABDD98C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28A39A8-D347-47B0-B2C6-4D62344A9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68DA3AC-8C25-47C7-94F7-8CC851D73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C490E27-F570-4700-9CF6-36EEBE076D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2AD5F6-5641-4E25-94A4-E20FB68B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AA4B7E9-DCB5-4414-BC24-8F27EF3CE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71BA7B-EBEF-4D8D-A25C-9B5507E4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194B407-3D8E-4649-BA1E-350068BFE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4344C33-C1C9-4C13-9042-7282AE25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931ECA-0357-479D-A47A-B69A2A5F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A1FD313-BE1F-4846-96A9-B37420418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2533EED-B592-4C3A-A489-76CF2AE7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D0B30D9-BA2F-447D-94E0-A9A160FE7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151C413-2505-41F1-A9C6-B9E08FAB3BD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AA1B9E-8107-4C26-B44A-E6C275A0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A12D24-EF60-4BDE-A587-6DF0F6B67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8250FB-BC7B-4844-B5A0-FD1701D1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710AC50-8D52-4722-B4C4-AE6326FEE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12B6273-85E4-4598-8FAE-9274159AF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30B20EF-3FAA-43A8-BD00-1035D767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1D6C4B3-4C58-4BCB-AD67-2F8609B3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3752A0-199D-436D-9DCD-56944136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CB4F167-5E73-4FD7-A2FE-0E45871F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21BF1-073C-4148-AF23-E3803174DC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CEA5B4-EF00-4E73-8010-9D9DF6DF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53A264D-CC6D-416D-AAB2-2FD55C7DB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84007E-0C3C-48C6-9FA7-D4F0FCA6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6247B43-994F-4F5F-B35B-6AE035372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CF34974-1195-4EB0-8ACA-2C732401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03ED2A6-431E-4E4A-85DA-820DC820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4A3AEA-E648-404F-86E6-68EA6F94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FC2721D-503B-465E-944F-13F7C484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41A7401-BD35-4DFB-B17E-271C28D2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919B933-F9EF-4961-9B41-A417188BAC0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8FEA81C-A601-4257-A7DC-4746A84B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7403EF6-4E10-42A0-891E-042A6555D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87E1DB-75A1-4D82-AEA5-5F400940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ED85B59-9475-4C5C-BE0D-101541CFB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AA48573-34A6-4287-9121-9C13B5CE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9E22C04-E1DD-4B8F-9966-2B88BA80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B35EA8-AEC0-4BEA-A6E6-C8D5BF8CC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DB015D3-8FD6-4F3A-81F3-76BD5347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9FBAAD7-D732-4807-97DE-F8ECE30F3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0932C0E-6FA1-493D-ACC7-8FE842F157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79C6479-74B7-4B8F-B5BF-00C53879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88CDD18-75E4-4B2A-86BB-FC7CECC5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6D6052-BBBC-4768-8CB5-6D069FD8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997A5DB-EF3C-4548-A05B-7ACE8F28E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1BFCF74-1D25-45FF-94C1-5E9F02128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97AB46-1DDD-40F3-B2FC-9A4839C8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CC5C411-71F6-4774-86E8-0C8D06C9A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83BEE93-516B-4AA5-872F-0B43AD8B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8C85BCC-387D-47B3-8318-E7ACD61B9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9D07D0-DB2D-4E4A-BBEE-09B39FD0D6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8DC9516-C2D5-41D4-A340-574647F8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CE6CF96-247B-4113-BB85-BA79612A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F86D64-F63C-41F6-A2FA-3767DD71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C367700-414E-45A3-90F6-54856AEF6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FA6D2F-3BF3-41DC-8FB9-E065101D4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CEC95B-F38B-447A-9993-A8ADB236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021520C-3C95-424E-B308-509FFAB0B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6B658C7-4016-4511-B057-08F5B009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7E809A8-D957-40B7-973B-0E7D42D41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F2FAAB-78C8-4E73-B871-EA9A015CBC8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DA89BE-28E2-4227-960F-45818500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88FAF95-F9FE-46CD-B8A8-92B571AF1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87E0CB5-A61E-4045-AA64-EBEE7644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9836C2-6FF0-42C6-8089-FC9A5BECB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C9A7FC2-1E75-4805-BF4F-F9F72B2A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3A2F2D-BFBC-4E9B-B1BD-77B9FD39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C1F5AF3-465D-4CD7-948F-3E3310A0C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994BD05-F700-45DE-9C4F-FDEDB48E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3545D42-133D-4945-81AA-89912C42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14B30B-4DF8-464B-9F36-62866D54C7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7FDF41-918C-44DC-A587-88341F55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5AE6EAC-3603-4C37-BE8F-E0917A41B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D6BCD7B-5FBB-4DA1-B29E-36F3BE84D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9A019A6-669D-4A26-9E3F-D2A2C8A1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88E946E-A3B5-4302-A864-14E92DCB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6971EBC-756E-4A39-AACF-3F1FAE5F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2E0AD69-5D6A-4CEA-93DD-447586DB1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0524CA6-F361-48FC-B2EE-5C4D24F2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DD0956-CBAA-4C62-98FF-A2589CC79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9866E61-C95E-469D-8DD8-5A64450DE5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2D29E9B-C2A4-453E-B415-1E01B9E1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7316BC7-D5A1-4038-8635-AD7F494DD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9FBE98-AE6E-4DC2-A3E3-FB8075C0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CC6D0E2-C89D-44B1-A583-8E5EE08E0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6A01FB-2309-400D-AEC7-92E4411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607B0E2-5EF7-427E-9D43-FA4BD070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954C6A-1100-4923-9756-D8444CBAA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055A31-BF05-47AE-9FF9-4915070D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44A6ABB-0617-4C1F-899E-50E95F84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F194557-451E-4FEF-AFEC-EE76025B0A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62DF97-26DF-4D55-8ADE-D450FE98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2E18634-5CAB-4980-ABE0-7851FE72A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2D580D-7E59-48F2-85E8-33A050EB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1FC0D40-D8B8-4700-A617-4EAF068B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1A96C47-F015-4FAC-8DD1-B8BC641D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0CCA70-9F23-450D-B121-C773A6F3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69C0532-6F0C-4FE5-9E5B-6DF722418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02D335-01DC-40AB-BA4A-22427956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2ECFDBC-18FC-4572-B4EC-9A8D85C5D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072816B-2D0C-4416-AD4D-EAAA1100D6D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E4016D-F772-4216-9126-BC0A3298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94717F3-0F31-4E0D-B43C-ADF94E218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3B11F-821A-42B2-9C4C-898A87A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14.10.2026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011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402042F-9485-4716-A3CA-7D863AC2EB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84A3C"/>
          </a:solidFill>
          <a:ln w="0">
            <a:solidFill>
              <a:srgbClr val="E84A3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A874F9-A90C-4C92-B588-F3548B0DF074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2213A"/>
                </a:solidFill>
              </a:defRPr>
            </a:defPPr>
          </a:lstStyle>
          <a:p>
            <a:pPr>
              <a:defRPr sz="2550" b="1">
                <a:solidFill>
                  <a:srgbClr val="12213A"/>
                </a:solidFill>
              </a:defRPr>
            </a:pPr>
            <a:r>
              <a:rPr lang="en-US" sz="2550" b="1" dirty="0">
                <a:solidFill>
                  <a:srgbClr val="12213A"/>
                </a:solidFill>
              </a:rPr>
              <a:t>1. </a:t>
            </a:r>
            <a:r>
              <a:rPr sz="2550" b="1" dirty="0" err="1">
                <a:solidFill>
                  <a:srgbClr val="12213A"/>
                </a:solidFill>
              </a:rPr>
              <a:t>Снижение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объёма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магнитов</a:t>
            </a:r>
            <a:r>
              <a:rPr sz="2550" b="1" dirty="0">
                <a:solidFill>
                  <a:srgbClr val="12213A"/>
                </a:solidFill>
              </a:rPr>
              <a:t> в </a:t>
            </a:r>
            <a:r>
              <a:rPr sz="2550" b="1" dirty="0" err="1">
                <a:solidFill>
                  <a:srgbClr val="12213A"/>
                </a:solidFill>
              </a:rPr>
              <a:t>тяговых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lang="ru-RU" sz="2550" b="1" dirty="0">
                <a:solidFill>
                  <a:srgbClr val="12213A"/>
                </a:solidFill>
              </a:rPr>
              <a:t>электроприводах.</a:t>
            </a:r>
            <a:endParaRPr sz="2550" b="1" dirty="0">
              <a:solidFill>
                <a:srgbClr val="12213A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BF9C6D-8889-4305-A7DE-3B61E6A59F3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59677A"/>
                </a:solidFill>
              </a:defRPr>
            </a:defPPr>
          </a:lstStyle>
          <a:p>
            <a:pPr>
              <a:defRPr sz="1350">
                <a:solidFill>
                  <a:srgbClr val="59677A"/>
                </a:solidFill>
              </a:defRPr>
            </a:pPr>
            <a:r>
              <a:rPr sz="1350">
                <a:solidFill>
                  <a:srgbClr val="59677A"/>
                </a:solidFill>
              </a:rPr>
              <a:t>SPM, IPM и PM-assisted SynRM при одинаковых ограничениях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D3B0BA-EBD4-45FC-A73F-3054C3B3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501109"/>
            <a:ext cx="3238500" cy="224605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762D9A-155B-41AD-963A-B487EE0C22D5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125" b="1">
                <a:solidFill>
                  <a:srgbClr val="59677A"/>
                </a:solidFill>
              </a:defRPr>
            </a:defPPr>
          </a:lstStyle>
          <a:p>
            <a:pPr algn="ctr">
              <a:defRPr sz="1125" b="1">
                <a:solidFill>
                  <a:srgbClr val="59677A"/>
                </a:solidFill>
              </a:defRPr>
            </a:pPr>
            <a:r>
              <a:rPr sz="1125" b="1">
                <a:solidFill>
                  <a:srgbClr val="59677A"/>
                </a:solidFill>
              </a:rPr>
              <a:t>Исследуемая IPM-топология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F3D0F1-4020-41FB-8982-8DFEA3466949}"/>
              </a:ext>
            </a:extLst>
          </p:cNvPr>
          <p:cNvSpPr>
            <a:spLocks noGrp="1"/>
          </p:cNvSpPr>
          <p:nvPr/>
        </p:nvSpPr>
        <p:spPr>
          <a:xfrm>
            <a:off x="514350" y="4305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12213A"/>
                </a:solidFill>
              </a:defRPr>
            </a:defPPr>
          </a:lstStyle>
          <a:p>
            <a:pPr>
              <a:defRPr sz="1500" b="1">
                <a:solidFill>
                  <a:srgbClr val="12213A"/>
                </a:solidFill>
              </a:defRPr>
            </a:pPr>
            <a:r>
              <a:rPr sz="1500" b="1">
                <a:solidFill>
                  <a:srgbClr val="12213A"/>
                </a:solidFill>
              </a:rPr>
              <a:t>Условия сравнения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40BCE0-D890-47F5-B93B-6F7947402DD2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429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334155"/>
                </a:solidFill>
              </a:defRPr>
            </a:defPPr>
          </a:lstStyle>
          <a:p>
            <a:pPr>
              <a:lnSpc>
                <a:spcPct val="112000"/>
              </a:lnSpc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• масса PM: 1,75 → 0,525 кг</a:t>
            </a:r>
          </a:p>
          <a:p>
            <a:pPr>
              <a:lnSpc>
                <a:spcPct val="112000"/>
              </a:lnSpc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• 400 В, ток до 480 А</a:t>
            </a:r>
          </a:p>
          <a:p>
            <a:pPr>
              <a:lnSpc>
                <a:spcPct val="112000"/>
              </a:lnSpc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• ширина и длина PM изменялись отдельно</a:t>
            </a:r>
          </a:p>
          <a:p>
            <a:pPr>
              <a:lnSpc>
                <a:spcPct val="112000"/>
              </a:lnSpc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• расчёт ANSYS FEA, MTPA и ослабление поля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A8CFE3-D644-4C1E-814B-E355ACF1E6FF}"/>
              </a:ext>
            </a:extLst>
          </p:cNvPr>
          <p:cNvSpPr>
            <a:spLocks noGrp="1"/>
          </p:cNvSpPr>
          <p:nvPr/>
        </p:nvSpPr>
        <p:spPr>
          <a:xfrm>
            <a:off x="4210050" y="1409700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2213A"/>
                </a:solidFill>
              </a:defRPr>
            </a:defPPr>
          </a:lstStyle>
          <a:p>
            <a:pPr>
              <a:defRPr sz="1575" b="1">
                <a:solidFill>
                  <a:srgbClr val="12213A"/>
                </a:solidFill>
              </a:defRPr>
            </a:pPr>
            <a:r>
              <a:rPr sz="1575" b="1">
                <a:solidFill>
                  <a:srgbClr val="12213A"/>
                </a:solidFill>
              </a:rPr>
              <a:t>Момент при одинаковой массе магнитов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6857D32A-9C37-4EB4-8011-EECA987CD1B2}"/>
              </a:ext>
            </a:extLst>
          </p:cNvPr>
          <p:cNvGraphicFramePr/>
          <p:nvPr/>
        </p:nvGraphicFramePr>
        <p:xfrm>
          <a:off x="4171950" y="1771650"/>
          <a:ext cx="6858000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C1A7D67-0FCE-4E41-BEB4-50868E4454D7}"/>
              </a:ext>
            </a:extLst>
          </p:cNvPr>
          <p:cNvSpPr>
            <a:spLocks noGrp="1"/>
          </p:cNvSpPr>
          <p:nvPr/>
        </p:nvSpPr>
        <p:spPr>
          <a:xfrm>
            <a:off x="4171950" y="4257675"/>
            <a:ext cx="7277100" cy="1066800"/>
          </a:xfrm>
          <a:prstGeom prst="roundRect">
            <a:avLst>
              <a:gd name="adj" fmla="val 10714"/>
            </a:avLst>
          </a:prstGeom>
          <a:solidFill>
            <a:srgbClr val="12213A"/>
          </a:solidFill>
          <a:ln w="0">
            <a:solidFill>
              <a:srgbClr val="12213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A3F1FF-864F-4FBF-9279-95BC0C72C164}"/>
              </a:ext>
            </a:extLst>
          </p:cNvPr>
          <p:cNvSpPr>
            <a:spLocks noGrp="1"/>
          </p:cNvSpPr>
          <p:nvPr/>
        </p:nvSpPr>
        <p:spPr>
          <a:xfrm>
            <a:off x="4438650" y="4410075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6B44A"/>
                </a:solidFill>
              </a:defRPr>
            </a:defPPr>
          </a:lstStyle>
          <a:p>
            <a:pPr>
              <a:defRPr sz="1275" b="1">
                <a:solidFill>
                  <a:srgbClr val="F6B44A"/>
                </a:solidFill>
              </a:defRPr>
            </a:pPr>
            <a:r>
              <a:rPr sz="1275" b="1">
                <a:solidFill>
                  <a:srgbClr val="F6B44A"/>
                </a:solidFill>
              </a:rPr>
              <a:t>Главный вывод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E300F0-D9D9-4025-924D-948B20548C7B}"/>
              </a:ext>
            </a:extLst>
          </p:cNvPr>
          <p:cNvSpPr>
            <a:spLocks noGrp="1"/>
          </p:cNvSpPr>
          <p:nvPr/>
        </p:nvSpPr>
        <p:spPr>
          <a:xfrm>
            <a:off x="4438650" y="4695825"/>
            <a:ext cx="670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</a:lstStyle>
          <a:p>
            <a:pPr>
              <a:lnSpc>
                <a:spcPct val="105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Уменьшение ширины магнита сохраняет момент и эффективность лучше, чем уменьшение его длины. IPM даёт лучший общий компромисс.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D2A398F-2C31-4D9D-A4CA-140E408AABA8}"/>
              </a:ext>
            </a:extLst>
          </p:cNvPr>
          <p:cNvSpPr>
            <a:spLocks noGrp="1"/>
          </p:cNvSpPr>
          <p:nvPr/>
        </p:nvSpPr>
        <p:spPr>
          <a:xfrm>
            <a:off x="4229100" y="5562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E84A3C"/>
                </a:solidFill>
              </a:defRPr>
            </a:defPPr>
          </a:lstStyle>
          <a:p>
            <a:pPr>
              <a:defRPr sz="1275" b="1">
                <a:solidFill>
                  <a:srgbClr val="E84A3C"/>
                </a:solidFill>
              </a:defRPr>
            </a:pPr>
            <a:r>
              <a:rPr sz="1275" b="1">
                <a:solidFill>
                  <a:srgbClr val="E84A3C"/>
                </a:solidFill>
              </a:rPr>
              <a:t>Новизна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2BE051-18CA-4004-AB3B-A4A388E91A95}"/>
              </a:ext>
            </a:extLst>
          </p:cNvPr>
          <p:cNvSpPr>
            <a:spLocks noGrp="1"/>
          </p:cNvSpPr>
          <p:nvPr/>
        </p:nvSpPr>
        <p:spPr>
          <a:xfrm>
            <a:off x="4229100" y="5819775"/>
            <a:ext cx="3314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334155"/>
                </a:solidFill>
              </a:defRPr>
            </a:defPPr>
          </a:lstStyle>
          <a:p>
            <a:pPr>
              <a:lnSpc>
                <a:spcPct val="105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Единое сравнение трёх топологий и раздельное изменение ширины и длины PM.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F60FA37-64CE-4081-8CEB-E954646927AE}"/>
              </a:ext>
            </a:extLst>
          </p:cNvPr>
          <p:cNvSpPr>
            <a:spLocks noGrp="1"/>
          </p:cNvSpPr>
          <p:nvPr/>
        </p:nvSpPr>
        <p:spPr>
          <a:xfrm>
            <a:off x="7867650" y="55626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E84A3C"/>
                </a:solidFill>
              </a:defRPr>
            </a:defPPr>
          </a:lstStyle>
          <a:p>
            <a:pPr>
              <a:defRPr sz="1275" b="1">
                <a:solidFill>
                  <a:srgbClr val="E84A3C"/>
                </a:solidFill>
              </a:defRPr>
            </a:pPr>
            <a:r>
              <a:rPr sz="1275" b="1">
                <a:solidFill>
                  <a:srgbClr val="E84A3C"/>
                </a:solidFill>
              </a:rPr>
              <a:t>Ограничения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C533803-B700-46E0-8203-8A12168671AB}"/>
              </a:ext>
            </a:extLst>
          </p:cNvPr>
          <p:cNvSpPr>
            <a:spLocks noGrp="1"/>
          </p:cNvSpPr>
          <p:nvPr/>
        </p:nvSpPr>
        <p:spPr>
          <a:xfrm>
            <a:off x="7867650" y="5819775"/>
            <a:ext cx="347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334155"/>
                </a:solidFill>
              </a:defRPr>
            </a:defPPr>
          </a:lstStyle>
          <a:p>
            <a:pPr>
              <a:lnSpc>
                <a:spcPct val="105000"/>
              </a:lnSpc>
              <a:buNone/>
              <a:defRPr sz="1050">
                <a:solidFill>
                  <a:srgbClr val="334155"/>
                </a:solidFill>
              </a:defRPr>
            </a:pPr>
            <a:r>
              <a:rPr sz="1050">
                <a:solidFill>
                  <a:srgbClr val="334155"/>
                </a:solidFill>
              </a:rPr>
              <a:t>Нет эксперимента, тепловой и механической проверки, размагничивания и ездового цикла.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8BEEC3-DD7F-4D7B-9212-FEF05895D1C0}"/>
              </a:ext>
            </a:extLst>
          </p:cNvPr>
          <p:cNvSpPr>
            <a:spLocks noGrp="1"/>
          </p:cNvSpPr>
          <p:nvPr/>
        </p:nvSpPr>
        <p:spPr>
          <a:xfrm>
            <a:off x="590550" y="65436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7B8796"/>
                </a:solidFill>
              </a:defRPr>
            </a:defPPr>
          </a:lstStyle>
          <a:p>
            <a:pPr>
              <a:defRPr sz="750">
                <a:solidFill>
                  <a:srgbClr val="7B8796"/>
                </a:solidFill>
              </a:defRPr>
            </a:pPr>
            <a:r>
              <a:rPr sz="750">
                <a:solidFill>
                  <a:srgbClr val="7B8796"/>
                </a:solidFill>
              </a:rPr>
              <a:t>Источник: Alam et al., Applied Sciences 16 (2026), 9923</a:t>
            </a:r>
          </a:p>
        </p:txBody>
      </p:sp>
    </p:spTree>
    <p:extLst>
      <p:ext uri="{BB962C8B-B14F-4D97-AF65-F5344CB8AC3E}">
        <p14:creationId xmlns:p14="http://schemas.microsoft.com/office/powerpoint/2010/main" val="6615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7A07335-AF88-4986-A387-10C73D582D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84A3C"/>
          </a:solidFill>
          <a:ln w="0">
            <a:solidFill>
              <a:srgbClr val="E84A3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980A7E-C620-44B4-A3FC-DA212B37AC7D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2213A"/>
                </a:solidFill>
              </a:defRPr>
            </a:defPPr>
          </a:lstStyle>
          <a:p>
            <a:pPr>
              <a:defRPr sz="2550" b="1">
                <a:solidFill>
                  <a:srgbClr val="12213A"/>
                </a:solidFill>
              </a:defRPr>
            </a:pPr>
            <a:r>
              <a:rPr lang="ru-RU" sz="2550" b="1" dirty="0">
                <a:solidFill>
                  <a:srgbClr val="12213A"/>
                </a:solidFill>
              </a:rPr>
              <a:t>2. </a:t>
            </a:r>
            <a:r>
              <a:rPr sz="2550" b="1" dirty="0" err="1">
                <a:solidFill>
                  <a:srgbClr val="12213A"/>
                </a:solidFill>
              </a:rPr>
              <a:t>Бездатчиковое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определение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осевого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положения</a:t>
            </a:r>
            <a:endParaRPr sz="2550" b="1" dirty="0">
              <a:solidFill>
                <a:srgbClr val="12213A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2C0326B-A7BD-4F70-AAE5-649B33100E1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607085"/>
                </a:solidFill>
              </a:defRPr>
            </a:defPPr>
          </a:lstStyle>
          <a:p>
            <a:pPr>
              <a:defRPr sz="1275">
                <a:solidFill>
                  <a:srgbClr val="607085"/>
                </a:solidFill>
              </a:defRPr>
            </a:pPr>
            <a:r>
              <a:rPr sz="1275">
                <a:solidFill>
                  <a:srgbClr val="607085"/>
                </a:solidFill>
              </a:rPr>
              <a:t>3-DOF PMSM магнитолевитационного насоса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107E26-3CB5-4C94-990A-E82CBB53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0892" y="1428750"/>
            <a:ext cx="3835066" cy="24288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29626C-7BCE-4320-AFAD-D520B872D561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350" b="1">
                <a:solidFill>
                  <a:srgbClr val="12213A"/>
                </a:solidFill>
              </a:defRPr>
            </a:defPPr>
          </a:lstStyle>
          <a:p>
            <a:pPr algn="ctr">
              <a:defRPr sz="1350" b="1">
                <a:solidFill>
                  <a:srgbClr val="12213A"/>
                </a:solidFill>
              </a:defRPr>
            </a:pPr>
            <a:r>
              <a:rPr sz="1350" b="1">
                <a:solidFill>
                  <a:srgbClr val="12213A"/>
                </a:solidFill>
              </a:rPr>
              <a:t>Осевое смещение изменяет потокосцепление обмотки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47A576C-0F5E-4EFF-9589-8C375CD91FEE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3848100" cy="723900"/>
          </a:xfrm>
          <a:prstGeom prst="roundRect">
            <a:avLst>
              <a:gd name="adj" fmla="val 15789"/>
            </a:avLst>
          </a:prstGeom>
          <a:solidFill>
            <a:srgbClr val="12213A"/>
          </a:solidFill>
          <a:ln w="0">
            <a:solidFill>
              <a:srgbClr val="12213A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F55EC6-FEDF-4698-9B6B-66CFD8E6CA40}"/>
              </a:ext>
            </a:extLst>
          </p:cNvPr>
          <p:cNvSpPr>
            <a:spLocks noGrp="1"/>
          </p:cNvSpPr>
          <p:nvPr/>
        </p:nvSpPr>
        <p:spPr>
          <a:xfrm>
            <a:off x="933450" y="4705350"/>
            <a:ext cx="3390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2025" b="1">
                <a:solidFill>
                  <a:srgbClr val="FFFFFF"/>
                </a:solidFill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Ψleak = kv z + Ψ0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3B909C3-2A72-4CE9-9A07-99E653224997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050">
                <a:solidFill>
                  <a:srgbClr val="C8D2E0"/>
                </a:solidFill>
              </a:defRPr>
            </a:defPPr>
          </a:lstStyle>
          <a:p>
            <a:pPr algn="ctr">
              <a:defRPr sz="1050">
                <a:solidFill>
                  <a:srgbClr val="C8D2E0"/>
                </a:solidFill>
              </a:defRPr>
            </a:pPr>
            <a:r>
              <a:rPr sz="1050">
                <a:solidFill>
                  <a:srgbClr val="C8D2E0"/>
                </a:solidFill>
              </a:rPr>
              <a:t>линейность в рабочем диапазоне ±0,5 мм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DE1EA88-AB46-4345-BEEE-6AB9C8139376}"/>
              </a:ext>
            </a:extLst>
          </p:cNvPr>
          <p:cNvSpPr>
            <a:spLocks noGrp="1"/>
          </p:cNvSpPr>
          <p:nvPr/>
        </p:nvSpPr>
        <p:spPr>
          <a:xfrm>
            <a:off x="5191125" y="14097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213A"/>
                </a:solidFill>
              </a:defRPr>
            </a:defPPr>
          </a:lstStyle>
          <a:p>
            <a:pPr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Контур управления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6A43DC-BF4A-411E-8A9C-C8E0FD039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46785" y="1752600"/>
            <a:ext cx="5479930" cy="24003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D522B0-5D30-491E-9C02-DB8694704797}"/>
              </a:ext>
            </a:extLst>
          </p:cNvPr>
          <p:cNvSpPr>
            <a:spLocks noGrp="1"/>
          </p:cNvSpPr>
          <p:nvPr/>
        </p:nvSpPr>
        <p:spPr>
          <a:xfrm>
            <a:off x="5334000" y="444817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E84A3C"/>
                </a:solidFill>
              </a:defRPr>
            </a:defPPr>
          </a:lstStyle>
          <a:p>
            <a:pPr>
              <a:defRPr sz="1800" b="1">
                <a:solidFill>
                  <a:srgbClr val="E84A3C"/>
                </a:solidFill>
              </a:defRPr>
            </a:pPr>
            <a:r>
              <a:rPr sz="1800" b="1">
                <a:solidFill>
                  <a:srgbClr val="E84A3C"/>
                </a:solidFill>
              </a:rPr>
              <a:t>1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6FCCACF-1100-4D4A-AC0E-4AF47F08404A}"/>
              </a:ext>
            </a:extLst>
          </p:cNvPr>
          <p:cNvSpPr>
            <a:spLocks noGrp="1"/>
          </p:cNvSpPr>
          <p:nvPr/>
        </p:nvSpPr>
        <p:spPr>
          <a:xfrm>
            <a:off x="5772150" y="44386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334155"/>
                </a:solidFill>
              </a:defRPr>
            </a:defPPr>
          </a:lstStyle>
          <a:p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VFF-RLS оценивает потокосцепление по токам и напряжениям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82464FE-48A2-4B16-B790-92AE3827D70A}"/>
              </a:ext>
            </a:extLst>
          </p:cNvPr>
          <p:cNvSpPr>
            <a:spLocks noGrp="1"/>
          </p:cNvSpPr>
          <p:nvPr/>
        </p:nvSpPr>
        <p:spPr>
          <a:xfrm>
            <a:off x="5334000" y="490537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E84A3C"/>
                </a:solidFill>
              </a:defRPr>
            </a:defPPr>
          </a:lstStyle>
          <a:p>
            <a:pPr>
              <a:defRPr sz="1800" b="1">
                <a:solidFill>
                  <a:srgbClr val="E84A3C"/>
                </a:solidFill>
              </a:defRPr>
            </a:pPr>
            <a:r>
              <a:rPr sz="1800" b="1">
                <a:solidFill>
                  <a:srgbClr val="E84A3C"/>
                </a:solidFill>
              </a:rPr>
              <a:t>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E21AD2D-49FF-444B-B868-B6357468412C}"/>
              </a:ext>
            </a:extLst>
          </p:cNvPr>
          <p:cNvSpPr>
            <a:spLocks noGrp="1"/>
          </p:cNvSpPr>
          <p:nvPr/>
        </p:nvSpPr>
        <p:spPr>
          <a:xfrm>
            <a:off x="5772150" y="489585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334155"/>
                </a:solidFill>
              </a:defRPr>
            </a:defPPr>
          </a:lstStyle>
          <a:p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Линейная калибровка преобразует потокосцепление в координату z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9730DE0-88DD-4D9F-BCFE-CD78DA76082A}"/>
              </a:ext>
            </a:extLst>
          </p:cNvPr>
          <p:cNvSpPr>
            <a:spLocks noGrp="1"/>
          </p:cNvSpPr>
          <p:nvPr/>
        </p:nvSpPr>
        <p:spPr>
          <a:xfrm>
            <a:off x="5334000" y="53911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E84A3C"/>
                </a:solidFill>
              </a:defRPr>
            </a:defPPr>
          </a:lstStyle>
          <a:p>
            <a:pPr>
              <a:defRPr sz="1800" b="1">
                <a:solidFill>
                  <a:srgbClr val="E84A3C"/>
                </a:solidFill>
              </a:defRPr>
            </a:pPr>
            <a:r>
              <a:rPr sz="1800" b="1">
                <a:solidFill>
                  <a:srgbClr val="E84A3C"/>
                </a:solidFill>
              </a:rPr>
              <a:t>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E35FFC7-5AFE-4255-AEFA-1B4EDE304C7E}"/>
              </a:ext>
            </a:extLst>
          </p:cNvPr>
          <p:cNvSpPr>
            <a:spLocks noGrp="1"/>
          </p:cNvSpPr>
          <p:nvPr/>
        </p:nvSpPr>
        <p:spPr>
          <a:xfrm>
            <a:off x="5772150" y="5381625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334155"/>
                </a:solidFill>
              </a:defRPr>
            </a:defPPr>
          </a:lstStyle>
          <a:p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Интегральный SMC стабилизирует осевое положение при возмущениях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D227802-439C-4A37-851F-9B132422767C}"/>
              </a:ext>
            </a:extLst>
          </p:cNvPr>
          <p:cNvSpPr>
            <a:spLocks noGrp="1"/>
          </p:cNvSpPr>
          <p:nvPr/>
        </p:nvSpPr>
        <p:spPr>
          <a:xfrm>
            <a:off x="590550" y="5943600"/>
            <a:ext cx="10839450" cy="419100"/>
          </a:xfrm>
          <a:prstGeom prst="roundRect">
            <a:avLst>
              <a:gd name="adj" fmla="val 27273"/>
            </a:avLst>
          </a:prstGeom>
          <a:solidFill>
            <a:srgbClr val="E8EDF2"/>
          </a:solidFill>
          <a:ln w="0">
            <a:solidFill>
              <a:srgbClr val="E8EDF2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94B0D17-5335-4691-9B0C-B480B1A47D3C}"/>
              </a:ext>
            </a:extLst>
          </p:cNvPr>
          <p:cNvSpPr>
            <a:spLocks noGrp="1"/>
          </p:cNvSpPr>
          <p:nvPr/>
        </p:nvSpPr>
        <p:spPr>
          <a:xfrm>
            <a:off x="809625" y="6038850"/>
            <a:ext cx="1038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200" b="1">
                <a:solidFill>
                  <a:srgbClr val="435269"/>
                </a:solidFill>
              </a:defRPr>
            </a:defPPr>
          </a:lstStyle>
          <a:p>
            <a:pPr algn="ctr">
              <a:defRPr sz="1200" b="1">
                <a:solidFill>
                  <a:srgbClr val="435269"/>
                </a:solidFill>
              </a:defRPr>
            </a:pPr>
            <a:r>
              <a:rPr sz="1200" b="1">
                <a:solidFill>
                  <a:srgbClr val="435269"/>
                </a:solidFill>
              </a:rPr>
              <a:t>Sensorless относится к осевой координате: угол ротора по-прежнему измеряет датчик Холла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B6E4B0A-86FC-4109-8834-8DA940187D47}"/>
              </a:ext>
            </a:extLst>
          </p:cNvPr>
          <p:cNvSpPr>
            <a:spLocks noGrp="1"/>
          </p:cNvSpPr>
          <p:nvPr/>
        </p:nvSpPr>
        <p:spPr>
          <a:xfrm>
            <a:off x="590550" y="6543675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8994A3"/>
                </a:solidFill>
              </a:defRPr>
            </a:defPPr>
          </a:lstStyle>
          <a:p>
            <a:pPr>
              <a:defRPr sz="750">
                <a:solidFill>
                  <a:srgbClr val="8994A3"/>
                </a:solidFill>
              </a:defRPr>
            </a:pPr>
            <a:r>
              <a:rPr sz="750">
                <a:solidFill>
                  <a:srgbClr val="8994A3"/>
                </a:solidFill>
              </a:rPr>
              <a:t>Zhu et al., IEEE/ASME Transactions on Mechatronics, 2026, DOI 10.1109/TMECH.2026.3727982</a:t>
            </a:r>
          </a:p>
        </p:txBody>
      </p:sp>
    </p:spTree>
    <p:extLst>
      <p:ext uri="{BB962C8B-B14F-4D97-AF65-F5344CB8AC3E}">
        <p14:creationId xmlns:p14="http://schemas.microsoft.com/office/powerpoint/2010/main" val="1405559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AB33D5E-A56D-4626-91A0-8DA4F820D2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84A3C"/>
          </a:solidFill>
          <a:ln w="0">
            <a:solidFill>
              <a:srgbClr val="E84A3C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C033ED-2A3D-4149-BEAA-9729D9E3BC1A}"/>
              </a:ext>
            </a:extLst>
          </p:cNvPr>
          <p:cNvSpPr>
            <a:spLocks noGrp="1"/>
          </p:cNvSpPr>
          <p:nvPr/>
        </p:nvSpPr>
        <p:spPr>
          <a:xfrm>
            <a:off x="590550" y="3619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2213A"/>
                </a:solidFill>
              </a:defRPr>
            </a:defPPr>
          </a:lstStyle>
          <a:p>
            <a:pPr>
              <a:defRPr sz="2550" b="1">
                <a:solidFill>
                  <a:srgbClr val="12213A"/>
                </a:solidFill>
              </a:defRPr>
            </a:pPr>
            <a:r>
              <a:rPr lang="ru-RU" sz="2550" b="1" dirty="0">
                <a:solidFill>
                  <a:srgbClr val="12213A"/>
                </a:solidFill>
              </a:rPr>
              <a:t>2. </a:t>
            </a:r>
            <a:r>
              <a:rPr sz="2550" b="1" dirty="0" err="1">
                <a:solidFill>
                  <a:srgbClr val="12213A"/>
                </a:solidFill>
              </a:rPr>
              <a:t>Экспериментальная</a:t>
            </a:r>
            <a:r>
              <a:rPr sz="2550" b="1" dirty="0">
                <a:solidFill>
                  <a:srgbClr val="12213A"/>
                </a:solidFill>
              </a:rPr>
              <a:t> </a:t>
            </a:r>
            <a:r>
              <a:rPr sz="2550" b="1" dirty="0" err="1">
                <a:solidFill>
                  <a:srgbClr val="12213A"/>
                </a:solidFill>
              </a:rPr>
              <a:t>проверка</a:t>
            </a:r>
            <a:endParaRPr sz="2550" b="1" dirty="0">
              <a:solidFill>
                <a:srgbClr val="12213A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1038A4-1336-472D-ABEE-4F938AF76B3A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607085"/>
                </a:solidFill>
              </a:defRPr>
            </a:defPPr>
          </a:lstStyle>
          <a:p>
            <a:pPr>
              <a:defRPr sz="1275">
                <a:solidFill>
                  <a:srgbClr val="607085"/>
                </a:solidFill>
              </a:defRPr>
            </a:pPr>
            <a:r>
              <a:rPr sz="1275">
                <a:solidFill>
                  <a:srgbClr val="607085"/>
                </a:solidFill>
              </a:rPr>
              <a:t>Слежение за положением и подавление осевых возмущений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FE208B-AD73-4C78-90FB-60F87D84AE3E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12213A"/>
                </a:solidFill>
              </a:defRPr>
            </a:defPPr>
          </a:lstStyle>
          <a:p>
            <a:pPr>
              <a:defRPr sz="1500" b="1">
                <a:solidFill>
                  <a:srgbClr val="12213A"/>
                </a:solidFill>
              </a:defRPr>
            </a:pPr>
            <a:r>
              <a:rPr sz="1500" b="1">
                <a:solidFill>
                  <a:srgbClr val="12213A"/>
                </a:solidFill>
              </a:rPr>
              <a:t>Слежение ±0,3 мм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32504E-FE1D-4E07-9752-37FE63D8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0348" y="1695450"/>
            <a:ext cx="4700155" cy="21907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FC18296-415D-47C2-9559-D8B468E47B3B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12213A"/>
                </a:solidFill>
              </a:defRPr>
            </a:defPPr>
          </a:lstStyle>
          <a:p>
            <a:pPr>
              <a:defRPr sz="1500" b="1">
                <a:solidFill>
                  <a:srgbClr val="12213A"/>
                </a:solidFill>
              </a:defRPr>
            </a:pPr>
            <a:r>
              <a:rPr sz="1500" b="1">
                <a:solidFill>
                  <a:srgbClr val="12213A"/>
                </a:solidFill>
              </a:rPr>
              <a:t>Возмущение воздушным потоком при 4000 об/мин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29EF33-D648-4B74-BA47-4D8CE763A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26623" y="4305300"/>
            <a:ext cx="3195205" cy="195262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5364BB-8626-4927-985D-7BE622CC30A2}"/>
              </a:ext>
            </a:extLst>
          </p:cNvPr>
          <p:cNvSpPr>
            <a:spLocks noGrp="1"/>
          </p:cNvSpPr>
          <p:nvPr/>
        </p:nvSpPr>
        <p:spPr>
          <a:xfrm>
            <a:off x="6838950" y="14001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213A"/>
                </a:solidFill>
              </a:defRPr>
            </a:defPPr>
          </a:lstStyle>
          <a:p>
            <a:pPr>
              <a:defRPr sz="1650" b="1">
                <a:solidFill>
                  <a:srgbClr val="12213A"/>
                </a:solidFill>
              </a:defRPr>
            </a:pPr>
            <a:r>
              <a:rPr sz="1650" b="1">
                <a:solidFill>
                  <a:srgbClr val="12213A"/>
                </a:solidFill>
              </a:rPr>
              <a:t>Результаты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61E1924-B06C-488E-B1B6-BB391C8B57ED}"/>
              </a:ext>
            </a:extLst>
          </p:cNvPr>
          <p:cNvSpPr>
            <a:spLocks noGrp="1"/>
          </p:cNvSpPr>
          <p:nvPr/>
        </p:nvSpPr>
        <p:spPr>
          <a:xfrm>
            <a:off x="6819900" y="17811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E84A3C"/>
                </a:solidFill>
              </a:defRPr>
            </a:defPPr>
          </a:lstStyle>
          <a:p>
            <a:pPr>
              <a:defRPr sz="2250" b="1">
                <a:solidFill>
                  <a:srgbClr val="E84A3C"/>
                </a:solidFill>
              </a:defRPr>
            </a:pPr>
            <a:r>
              <a:rPr sz="2250" b="1">
                <a:solidFill>
                  <a:srgbClr val="E84A3C"/>
                </a:solidFill>
              </a:rPr>
              <a:t>≤160 мкм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E3888D-DD1B-48AE-BF35-8BDA36863520}"/>
              </a:ext>
            </a:extLst>
          </p:cNvPr>
          <p:cNvSpPr>
            <a:spLocks noGrp="1"/>
          </p:cNvSpPr>
          <p:nvPr/>
        </p:nvSpPr>
        <p:spPr>
          <a:xfrm>
            <a:off x="6838950" y="214312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A596D"/>
                </a:solidFill>
              </a:defRPr>
            </a:defPPr>
          </a:lstStyle>
          <a:p>
            <a:pPr>
              <a:defRPr sz="1200">
                <a:solidFill>
                  <a:srgbClr val="4A596D"/>
                </a:solidFill>
              </a:defRPr>
            </a:pPr>
            <a:r>
              <a:rPr sz="1200">
                <a:solidFill>
                  <a:srgbClr val="4A596D"/>
                </a:solidFill>
              </a:rPr>
              <a:t>колебания при динамическом слежении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EBA833-F161-4686-B200-1EDFB1E22119}"/>
              </a:ext>
            </a:extLst>
          </p:cNvPr>
          <p:cNvSpPr>
            <a:spLocks noGrp="1"/>
          </p:cNvSpPr>
          <p:nvPr/>
        </p:nvSpPr>
        <p:spPr>
          <a:xfrm>
            <a:off x="6819900" y="25622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E84A3C"/>
                </a:solidFill>
              </a:defRPr>
            </a:defPPr>
          </a:lstStyle>
          <a:p>
            <a:pPr>
              <a:defRPr sz="2250" b="1">
                <a:solidFill>
                  <a:srgbClr val="E84A3C"/>
                </a:solidFill>
              </a:defRPr>
            </a:pPr>
            <a:r>
              <a:rPr sz="2250" b="1">
                <a:solidFill>
                  <a:srgbClr val="E84A3C"/>
                </a:solidFill>
              </a:rPr>
              <a:t>≈1 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2230F2B-CFD7-4A14-9249-36EFA51CA286}"/>
              </a:ext>
            </a:extLst>
          </p:cNvPr>
          <p:cNvSpPr>
            <a:spLocks noGrp="1"/>
          </p:cNvSpPr>
          <p:nvPr/>
        </p:nvSpPr>
        <p:spPr>
          <a:xfrm>
            <a:off x="6838950" y="292417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A596D"/>
                </a:solidFill>
              </a:defRPr>
            </a:defPPr>
          </a:lstStyle>
          <a:p>
            <a:pPr>
              <a:defRPr sz="1200">
                <a:solidFill>
                  <a:srgbClr val="4A596D"/>
                </a:solidFill>
              </a:defRPr>
            </a:pPr>
            <a:r>
              <a:rPr sz="1200">
                <a:solidFill>
                  <a:srgbClr val="4A596D"/>
                </a:solidFill>
              </a:rPr>
              <a:t>время устойчивого позиционирования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9EA361C-C412-4476-AC4E-DE0C0A150977}"/>
              </a:ext>
            </a:extLst>
          </p:cNvPr>
          <p:cNvSpPr>
            <a:spLocks noGrp="1"/>
          </p:cNvSpPr>
          <p:nvPr/>
        </p:nvSpPr>
        <p:spPr>
          <a:xfrm>
            <a:off x="6819900" y="33432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E84A3C"/>
                </a:solidFill>
              </a:defRPr>
            </a:defPPr>
          </a:lstStyle>
          <a:p>
            <a:pPr>
              <a:defRPr sz="2250" b="1">
                <a:solidFill>
                  <a:srgbClr val="E84A3C"/>
                </a:solidFill>
              </a:defRPr>
            </a:pPr>
            <a:r>
              <a:rPr sz="2250" b="1">
                <a:solidFill>
                  <a:srgbClr val="E84A3C"/>
                </a:solidFill>
              </a:rPr>
              <a:t>160–230 мкм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12C1BD1-770E-4B29-A5D6-0CA15BF1D7D7}"/>
              </a:ext>
            </a:extLst>
          </p:cNvPr>
          <p:cNvSpPr>
            <a:spLocks noGrp="1"/>
          </p:cNvSpPr>
          <p:nvPr/>
        </p:nvSpPr>
        <p:spPr>
          <a:xfrm>
            <a:off x="6838950" y="37052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A596D"/>
                </a:solidFill>
              </a:defRPr>
            </a:defPPr>
          </a:lstStyle>
          <a:p>
            <a:pPr>
              <a:defRPr sz="1200">
                <a:solidFill>
                  <a:srgbClr val="4A596D"/>
                </a:solidFill>
              </a:defRPr>
            </a:pPr>
            <a:r>
              <a:rPr sz="1200">
                <a:solidFill>
                  <a:srgbClr val="4A596D"/>
                </a:solidFill>
              </a:rPr>
              <a:t>разброс положения при возмущении, 4000 об/мин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D05DC8B-D6FA-40F8-9CC4-CDAED52F2C56}"/>
              </a:ext>
            </a:extLst>
          </p:cNvPr>
          <p:cNvSpPr>
            <a:spLocks noGrp="1"/>
          </p:cNvSpPr>
          <p:nvPr/>
        </p:nvSpPr>
        <p:spPr>
          <a:xfrm>
            <a:off x="6705600" y="4324350"/>
            <a:ext cx="4724400" cy="1104900"/>
          </a:xfrm>
          <a:prstGeom prst="roundRect">
            <a:avLst>
              <a:gd name="adj" fmla="val 10345"/>
            </a:avLst>
          </a:prstGeom>
          <a:solidFill>
            <a:srgbClr val="12213A"/>
          </a:solidFill>
          <a:ln w="0">
            <a:solidFill>
              <a:srgbClr val="12213A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0C2039-163D-46E4-B4D4-ADD22C32F422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6B44A"/>
                </a:solidFill>
              </a:defRPr>
            </a:defPPr>
          </a:lstStyle>
          <a:p>
            <a:pPr>
              <a:defRPr sz="1275" b="1">
                <a:solidFill>
                  <a:srgbClr val="F6B44A"/>
                </a:solidFill>
              </a:defRPr>
            </a:pPr>
            <a:r>
              <a:rPr sz="1275" b="1">
                <a:solidFill>
                  <a:srgbClr val="F6B44A"/>
                </a:solidFill>
              </a:rPr>
              <a:t>Научная новизна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0AA1236-A60B-4D1D-BBE9-55FEB7D4A699}"/>
              </a:ext>
            </a:extLst>
          </p:cNvPr>
          <p:cNvSpPr>
            <a:spLocks noGrp="1"/>
          </p:cNvSpPr>
          <p:nvPr/>
        </p:nvSpPr>
        <p:spPr>
          <a:xfrm>
            <a:off x="6953250" y="4772025"/>
            <a:ext cx="4210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</a:lstStyle>
          <a:p>
            <a:pPr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Совместное применение VFF-RLS и интегрального SMC для оценки и стабилизации осевой координаты по утечечному потоку.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654B3BE-2A88-4C60-8C56-FD82FF3F9887}"/>
              </a:ext>
            </a:extLst>
          </p:cNvPr>
          <p:cNvSpPr>
            <a:spLocks noGrp="1"/>
          </p:cNvSpPr>
          <p:nvPr/>
        </p:nvSpPr>
        <p:spPr>
          <a:xfrm>
            <a:off x="6838950" y="56578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E84A3C"/>
                </a:solidFill>
              </a:defRPr>
            </a:defPPr>
          </a:lstStyle>
          <a:p>
            <a:pPr>
              <a:defRPr sz="1350" b="1">
                <a:solidFill>
                  <a:srgbClr val="E84A3C"/>
                </a:solidFill>
              </a:defRPr>
            </a:pPr>
            <a:r>
              <a:rPr sz="1350" b="1">
                <a:solidFill>
                  <a:srgbClr val="E84A3C"/>
                </a:solidFill>
              </a:rPr>
              <a:t>Ограничения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10C89D-02CA-4C28-9872-4A7609C6A365}"/>
              </a:ext>
            </a:extLst>
          </p:cNvPr>
          <p:cNvSpPr>
            <a:spLocks noGrp="1"/>
          </p:cNvSpPr>
          <p:nvPr/>
        </p:nvSpPr>
        <p:spPr>
          <a:xfrm>
            <a:off x="6838950" y="59245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334155"/>
                </a:solidFill>
              </a:defRPr>
            </a:defPPr>
          </a:lstStyle>
          <a:p>
            <a:pPr>
              <a:lnSpc>
                <a:spcPct val="105000"/>
              </a:lnSpc>
              <a:buNone/>
              <a:defRPr sz="1125">
                <a:solidFill>
                  <a:srgbClr val="334155"/>
                </a:solidFill>
              </a:defRPr>
            </a:pPr>
            <a:r>
              <a:rPr sz="1125">
                <a:solidFill>
                  <a:srgbClr val="334155"/>
                </a:solidFill>
              </a:rPr>
              <a:t>Работа от 1000 об/мин; полоса оценки около 80 Гц; чувствительность к индуктивности; испытания в жидкости ещё не проведены.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0E3BA4C-8E2A-48D5-98A9-0C3B5E3AD1DC}"/>
              </a:ext>
            </a:extLst>
          </p:cNvPr>
          <p:cNvSpPr>
            <a:spLocks noGrp="1"/>
          </p:cNvSpPr>
          <p:nvPr/>
        </p:nvSpPr>
        <p:spPr>
          <a:xfrm>
            <a:off x="590550" y="6543675"/>
            <a:ext cx="857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750">
                <a:solidFill>
                  <a:srgbClr val="8994A3"/>
                </a:solidFill>
              </a:defRPr>
            </a:defPPr>
          </a:lstStyle>
          <a:p>
            <a:pPr>
              <a:defRPr sz="750">
                <a:solidFill>
                  <a:srgbClr val="8994A3"/>
                </a:solidFill>
              </a:defRPr>
            </a:pPr>
            <a:r>
              <a:rPr sz="750">
                <a:solidFill>
                  <a:srgbClr val="8994A3"/>
                </a:solidFill>
              </a:rPr>
              <a:t>Zhu et al., IEEE/ASME Transactions on Mechatronics, 2026, DOI 10.1109/TMECH.2026.3727982</a:t>
            </a:r>
          </a:p>
        </p:txBody>
      </p:sp>
    </p:spTree>
    <p:extLst>
      <p:ext uri="{BB962C8B-B14F-4D97-AF65-F5344CB8AC3E}">
        <p14:creationId xmlns:p14="http://schemas.microsoft.com/office/powerpoint/2010/main" val="1444402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93B9F4A-B2E0-42E9-BE02-98EC4861DC95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ru-RU" sz="2400" b="1" dirty="0">
                <a:solidFill>
                  <a:srgbClr val="12233F"/>
                </a:solidFill>
              </a:rPr>
              <a:t>3. </a:t>
            </a:r>
            <a:r>
              <a:rPr sz="2400" b="1" dirty="0" err="1">
                <a:solidFill>
                  <a:srgbClr val="12233F"/>
                </a:solidFill>
              </a:rPr>
              <a:t>Каскадное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управление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экзоскелетом</a:t>
            </a:r>
            <a:r>
              <a:rPr sz="2400" b="1" dirty="0">
                <a:solidFill>
                  <a:srgbClr val="12233F"/>
                </a:solidFill>
              </a:rPr>
              <a:t> с RL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FEE3D4-295C-49F9-8071-7AC3C28BBDDD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1D35FC-3B57-4E79-A918-ACAE8E2B2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2160389"/>
            <a:ext cx="2524125" cy="296584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776F2D-6179-418F-B5C7-3D1883E603A6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12233F"/>
                </a:solidFill>
              </a:defRPr>
            </a:defPPr>
          </a:lstStyle>
          <a:p>
            <a:pPr algn="ctr">
              <a:defRPr sz="1200" b="1">
                <a:solidFill>
                  <a:srgbClr val="12233F"/>
                </a:solidFill>
              </a:defRPr>
            </a:pPr>
            <a:r>
              <a:rPr sz="1200" b="1">
                <a:solidFill>
                  <a:srgbClr val="12233F"/>
                </a:solidFill>
              </a:rPr>
              <a:t>2 активных тазобедренных сустава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8B60DC5-92B5-4C02-8FDF-FE9CD1301688}"/>
              </a:ext>
            </a:extLst>
          </p:cNvPr>
          <p:cNvSpPr>
            <a:spLocks noGrp="1"/>
          </p:cNvSpPr>
          <p:nvPr/>
        </p:nvSpPr>
        <p:spPr>
          <a:xfrm>
            <a:off x="3619500" y="2143125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7F5F6"/>
          </a:solidFill>
          <a:ln w="9525">
            <a:solidFill>
              <a:srgbClr val="00A7B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C71710-61FF-4EFC-889B-338B5A6F67FD}"/>
              </a:ext>
            </a:extLst>
          </p:cNvPr>
          <p:cNvSpPr>
            <a:spLocks noGrp="1"/>
          </p:cNvSpPr>
          <p:nvPr/>
        </p:nvSpPr>
        <p:spPr>
          <a:xfrm>
            <a:off x="3714750" y="2276475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0A7B5"/>
                </a:solidFill>
              </a:defRPr>
            </a:defPPr>
          </a:lstStyle>
          <a:p>
            <a:pPr algn="ctr">
              <a:defRPr sz="1350" b="1">
                <a:solidFill>
                  <a:srgbClr val="00A7B5"/>
                </a:solidFill>
              </a:defRPr>
            </a:pPr>
            <a:r>
              <a:rPr sz="1350" b="1">
                <a:solidFill>
                  <a:srgbClr val="00A7B5"/>
                </a:solidFill>
              </a:rPr>
              <a:t>RL-адаптация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E7C9480-183F-48DD-A42C-24FB9C138D1C}"/>
              </a:ext>
            </a:extLst>
          </p:cNvPr>
          <p:cNvSpPr>
            <a:spLocks noGrp="1"/>
          </p:cNvSpPr>
          <p:nvPr/>
        </p:nvSpPr>
        <p:spPr>
          <a:xfrm>
            <a:off x="5572125" y="2143125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6A85D3-AECD-4445-AAE6-A52A7948BCF0}"/>
              </a:ext>
            </a:extLst>
          </p:cNvPr>
          <p:cNvSpPr>
            <a:spLocks noGrp="1"/>
          </p:cNvSpPr>
          <p:nvPr/>
        </p:nvSpPr>
        <p:spPr>
          <a:xfrm>
            <a:off x="5667375" y="2276475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2233F"/>
                </a:solidFill>
              </a:defRPr>
            </a:defPPr>
          </a:lstStyle>
          <a:p>
            <a:pPr algn="ctr">
              <a:defRPr sz="1350" b="1">
                <a:solidFill>
                  <a:srgbClr val="12233F"/>
                </a:solidFill>
              </a:defRPr>
            </a:pPr>
            <a:r>
              <a:rPr sz="1350" b="1">
                <a:solidFill>
                  <a:srgbClr val="12233F"/>
                </a:solidFill>
              </a:rPr>
              <a:t>Контур положения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F74D832-8E9A-4ECD-A7CE-9F243A2B8E5F}"/>
              </a:ext>
            </a:extLst>
          </p:cNvPr>
          <p:cNvSpPr>
            <a:spLocks noGrp="1"/>
          </p:cNvSpPr>
          <p:nvPr/>
        </p:nvSpPr>
        <p:spPr>
          <a:xfrm>
            <a:off x="7524750" y="2143125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853F891-7BE6-4CEE-A251-014EB544AA02}"/>
              </a:ext>
            </a:extLst>
          </p:cNvPr>
          <p:cNvSpPr>
            <a:spLocks noGrp="1"/>
          </p:cNvSpPr>
          <p:nvPr/>
        </p:nvSpPr>
        <p:spPr>
          <a:xfrm>
            <a:off x="7620000" y="2276475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2233F"/>
                </a:solidFill>
              </a:defRPr>
            </a:defPPr>
          </a:lstStyle>
          <a:p>
            <a:pPr algn="ctr">
              <a:defRPr sz="1350" b="1">
                <a:solidFill>
                  <a:srgbClr val="12233F"/>
                </a:solidFill>
              </a:defRPr>
            </a:pPr>
            <a:r>
              <a:rPr sz="1350" b="1">
                <a:solidFill>
                  <a:srgbClr val="12233F"/>
                </a:solidFill>
              </a:rPr>
              <a:t>Скорость и ток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F33EEFD-2015-4694-9333-49EC7F08D0B1}"/>
              </a:ext>
            </a:extLst>
          </p:cNvPr>
          <p:cNvSpPr>
            <a:spLocks noGrp="1"/>
          </p:cNvSpPr>
          <p:nvPr/>
        </p:nvSpPr>
        <p:spPr>
          <a:xfrm>
            <a:off x="9477375" y="2143125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F8E356-4503-4245-9497-5B9F55212300}"/>
              </a:ext>
            </a:extLst>
          </p:cNvPr>
          <p:cNvSpPr>
            <a:spLocks noGrp="1"/>
          </p:cNvSpPr>
          <p:nvPr/>
        </p:nvSpPr>
        <p:spPr>
          <a:xfrm>
            <a:off x="9572625" y="2276475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2233F"/>
                </a:solidFill>
              </a:defRPr>
            </a:defPPr>
          </a:lstStyle>
          <a:p>
            <a:pPr algn="ctr">
              <a:defRPr sz="1350" b="1">
                <a:solidFill>
                  <a:srgbClr val="12233F"/>
                </a:solidFill>
              </a:defRPr>
            </a:pPr>
            <a:r>
              <a:rPr sz="1350" b="1">
                <a:solidFill>
                  <a:srgbClr val="12233F"/>
                </a:solidFill>
              </a:rPr>
              <a:t>PMSM + редуктор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4BD2F3F-92E2-4C41-9C8F-AF781D013BC5}"/>
              </a:ext>
            </a:extLst>
          </p:cNvPr>
          <p:cNvSpPr>
            <a:spLocks noGrp="1"/>
          </p:cNvSpPr>
          <p:nvPr/>
        </p:nvSpPr>
        <p:spPr>
          <a:xfrm>
            <a:off x="5210175" y="2276475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400" b="1">
                <a:solidFill>
                  <a:srgbClr val="F39C4A"/>
                </a:solidFill>
              </a:defRPr>
            </a:defPPr>
          </a:lstStyle>
          <a:p>
            <a:pPr algn="ctr">
              <a:defRPr sz="2400" b="1">
                <a:solidFill>
                  <a:srgbClr val="F39C4A"/>
                </a:solidFill>
              </a:defRPr>
            </a:pPr>
            <a:r>
              <a:rPr sz="2400" b="1">
                <a:solidFill>
                  <a:srgbClr val="F39C4A"/>
                </a:solidFill>
              </a:rPr>
              <a:t>›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AF1E28-E2B7-491D-9C70-8F51832506CA}"/>
              </a:ext>
            </a:extLst>
          </p:cNvPr>
          <p:cNvSpPr>
            <a:spLocks noGrp="1"/>
          </p:cNvSpPr>
          <p:nvPr/>
        </p:nvSpPr>
        <p:spPr>
          <a:xfrm>
            <a:off x="7162800" y="2276475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400" b="1">
                <a:solidFill>
                  <a:srgbClr val="F39C4A"/>
                </a:solidFill>
              </a:defRPr>
            </a:defPPr>
          </a:lstStyle>
          <a:p>
            <a:pPr algn="ctr">
              <a:defRPr sz="2400" b="1">
                <a:solidFill>
                  <a:srgbClr val="F39C4A"/>
                </a:solidFill>
              </a:defRPr>
            </a:pPr>
            <a:r>
              <a:rPr sz="2400" b="1">
                <a:solidFill>
                  <a:srgbClr val="F39C4A"/>
                </a:solidFill>
              </a:rPr>
              <a:t>›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9BEFCD3-A081-42A4-AE70-D147DB3F56EE}"/>
              </a:ext>
            </a:extLst>
          </p:cNvPr>
          <p:cNvSpPr>
            <a:spLocks noGrp="1"/>
          </p:cNvSpPr>
          <p:nvPr/>
        </p:nvSpPr>
        <p:spPr>
          <a:xfrm>
            <a:off x="9115425" y="2276475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400" b="1">
                <a:solidFill>
                  <a:srgbClr val="F39C4A"/>
                </a:solidFill>
              </a:defRPr>
            </a:defPPr>
          </a:lstStyle>
          <a:p>
            <a:pPr algn="ctr">
              <a:defRPr sz="2400" b="1">
                <a:solidFill>
                  <a:srgbClr val="F39C4A"/>
                </a:solidFill>
              </a:defRPr>
            </a:pPr>
            <a:r>
              <a:rPr sz="2400" b="1">
                <a:solidFill>
                  <a:srgbClr val="F39C4A"/>
                </a:solidFill>
              </a:rPr>
              <a:t>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A69D21F-A72F-4FD7-A5E4-090C93C9830E}"/>
              </a:ext>
            </a:extLst>
          </p:cNvPr>
          <p:cNvSpPr>
            <a:spLocks noGrp="1"/>
          </p:cNvSpPr>
          <p:nvPr/>
        </p:nvSpPr>
        <p:spPr>
          <a:xfrm>
            <a:off x="3619500" y="1476375"/>
            <a:ext cx="7667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2233F"/>
                </a:solidFill>
              </a:defRPr>
            </a:defPPr>
          </a:lstStyle>
          <a:p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RL не формирует ток двигателя напрямую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90F9FB3-0782-4D38-AD62-CB2058A8F8C4}"/>
              </a:ext>
            </a:extLst>
          </p:cNvPr>
          <p:cNvSpPr>
            <a:spLocks noGrp="1"/>
          </p:cNvSpPr>
          <p:nvPr/>
        </p:nvSpPr>
        <p:spPr>
          <a:xfrm>
            <a:off x="3619500" y="3190875"/>
            <a:ext cx="7667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033"/>
                </a:solidFill>
              </a:defRPr>
            </a:defPPr>
          </a:lstStyle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Агент изменяет коэффициенты PID и виртуальные жёсткость и демпфирование. Внутренний FOC-контур остаётся классическим и быстрым.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96A68EE-971D-4BF9-8ADC-30FA3B35792F}"/>
              </a:ext>
            </a:extLst>
          </p:cNvPr>
          <p:cNvSpPr>
            <a:spLocks noGrp="1"/>
          </p:cNvSpPr>
          <p:nvPr/>
        </p:nvSpPr>
        <p:spPr>
          <a:xfrm>
            <a:off x="3619500" y="4267200"/>
            <a:ext cx="7667625" cy="1257300"/>
          </a:xfrm>
          <a:prstGeom prst="roundRect">
            <a:avLst>
              <a:gd name="adj" fmla="val 9091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DA01C29-BA10-45D5-85AA-8AA80AC66EF1}"/>
              </a:ext>
            </a:extLst>
          </p:cNvPr>
          <p:cNvSpPr>
            <a:spLocks noGrp="1"/>
          </p:cNvSpPr>
          <p:nvPr/>
        </p:nvSpPr>
        <p:spPr>
          <a:xfrm>
            <a:off x="3857625" y="44386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00A7B5"/>
                </a:solidFill>
              </a:defRPr>
            </a:defPPr>
          </a:lstStyle>
          <a:p>
            <a:pPr algn="l">
              <a:defRPr sz="1200" b="1">
                <a:solidFill>
                  <a:srgbClr val="00A7B5"/>
                </a:solidFill>
              </a:defRPr>
            </a:pPr>
            <a:r>
              <a:rPr sz="1200" b="1">
                <a:solidFill>
                  <a:srgbClr val="00A7B5"/>
                </a:solidFill>
              </a:rPr>
              <a:t>Состояние агента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57312A4-3F46-4EE3-A140-CF88516E3C76}"/>
              </a:ext>
            </a:extLst>
          </p:cNvPr>
          <p:cNvSpPr>
            <a:spLocks noGrp="1"/>
          </p:cNvSpPr>
          <p:nvPr/>
        </p:nvSpPr>
        <p:spPr>
          <a:xfrm>
            <a:off x="3857625" y="4724400"/>
            <a:ext cx="3095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FFFFFF"/>
                </a:solidFill>
              </a:defRPr>
            </a:defPPr>
          </a:lstStyle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ошибки положения и скорости, момент взаимодействия, энергия, угол сустава, фаза шага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2D23C96-FE89-4F67-B9B2-69BF3F34E159}"/>
              </a:ext>
            </a:extLst>
          </p:cNvPr>
          <p:cNvSpPr>
            <a:spLocks noGrp="1"/>
          </p:cNvSpPr>
          <p:nvPr/>
        </p:nvSpPr>
        <p:spPr>
          <a:xfrm>
            <a:off x="7524750" y="44386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F39C4A"/>
                </a:solidFill>
              </a:defRPr>
            </a:defPPr>
          </a:lstStyle>
          <a:p>
            <a:pPr algn="l">
              <a:defRPr sz="1200" b="1">
                <a:solidFill>
                  <a:srgbClr val="F39C4A"/>
                </a:solidFill>
              </a:defRPr>
            </a:pPr>
            <a:r>
              <a:rPr sz="1200" b="1">
                <a:solidFill>
                  <a:srgbClr val="F39C4A"/>
                </a:solidFill>
              </a:rPr>
              <a:t>Цель обучения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651AC78-B3A3-4D03-8D28-040C7241D43C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333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FFFFFF"/>
                </a:solidFill>
              </a:defRPr>
            </a:defPPr>
          </a:lstStyle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точность движения при меньшем усилии на человека и меньшем расходе энергии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6ADE5DA-20E0-428D-B282-D4C2064FBBED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RusAutoCon 2026, DOI 10.1109/RusAutoCon69876.2026.11707381</a:t>
            </a:r>
          </a:p>
        </p:txBody>
      </p:sp>
    </p:spTree>
    <p:extLst>
      <p:ext uri="{BB962C8B-B14F-4D97-AF65-F5344CB8AC3E}">
        <p14:creationId xmlns:p14="http://schemas.microsoft.com/office/powerpoint/2010/main" val="122679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91F2CF-DBD3-4864-B7F1-FDDF91730261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ru-RU" sz="2400" b="1" dirty="0">
                <a:solidFill>
                  <a:srgbClr val="12233F"/>
                </a:solidFill>
              </a:rPr>
              <a:t>3. </a:t>
            </a:r>
            <a:r>
              <a:rPr sz="2400" b="1" dirty="0" err="1">
                <a:solidFill>
                  <a:srgbClr val="12233F"/>
                </a:solidFill>
              </a:rPr>
              <a:t>Результаты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оценка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новизны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BB6A89A-61EF-46E9-9858-1364A39A698D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D7ED1B-60D5-4593-8D12-57815F80E5E7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Заявленные результаты моделирования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00C8144-8589-4625-948A-061B56947AE1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333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4050" b="1">
                <a:solidFill>
                  <a:srgbClr val="00A7B5"/>
                </a:solidFill>
              </a:defRPr>
            </a:defPPr>
          </a:lstStyle>
          <a:p>
            <a:pPr algn="l">
              <a:defRPr sz="4050" b="1">
                <a:solidFill>
                  <a:srgbClr val="00A7B5"/>
                </a:solidFill>
              </a:defRPr>
            </a:pPr>
            <a:r>
              <a:rPr sz="4050" b="1">
                <a:solidFill>
                  <a:srgbClr val="00A7B5"/>
                </a:solidFill>
              </a:rPr>
              <a:t>−18%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A9D3E9-A4E2-4E2D-ACBE-7773CED8C8E8}"/>
              </a:ext>
            </a:extLst>
          </p:cNvPr>
          <p:cNvSpPr>
            <a:spLocks noGrp="1"/>
          </p:cNvSpPr>
          <p:nvPr/>
        </p:nvSpPr>
        <p:spPr>
          <a:xfrm>
            <a:off x="733425" y="27813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72033"/>
                </a:solidFill>
              </a:defRPr>
            </a:defPPr>
          </a:lstStyle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пиковое усилие</a:t>
            </a:r>
          </a:p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взаимодействия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E50404-C4B8-495E-BECD-54B516D906A1}"/>
              </a:ext>
            </a:extLst>
          </p:cNvPr>
          <p:cNvSpPr>
            <a:spLocks noGrp="1"/>
          </p:cNvSpPr>
          <p:nvPr/>
        </p:nvSpPr>
        <p:spPr>
          <a:xfrm>
            <a:off x="3476625" y="1952625"/>
            <a:ext cx="2333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4050" b="1">
                <a:solidFill>
                  <a:srgbClr val="F39C4A"/>
                </a:solidFill>
              </a:defRPr>
            </a:defPPr>
          </a:lstStyle>
          <a:p>
            <a:pPr algn="l">
              <a:defRPr sz="4050" b="1">
                <a:solidFill>
                  <a:srgbClr val="F39C4A"/>
                </a:solidFill>
              </a:defRPr>
            </a:pPr>
            <a:r>
              <a:rPr sz="4050" b="1">
                <a:solidFill>
                  <a:srgbClr val="F39C4A"/>
                </a:solidFill>
              </a:rPr>
              <a:t>+12%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3EEA76-22D3-431B-B9FD-392C89388B95}"/>
              </a:ext>
            </a:extLst>
          </p:cNvPr>
          <p:cNvSpPr>
            <a:spLocks noGrp="1"/>
          </p:cNvSpPr>
          <p:nvPr/>
        </p:nvSpPr>
        <p:spPr>
          <a:xfrm>
            <a:off x="3543300" y="27813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72033"/>
                </a:solidFill>
              </a:defRPr>
            </a:defPPr>
          </a:lstStyle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точность отслеживания</a:t>
            </a:r>
          </a:p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траектории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57EF86-229A-4ECF-A1FB-CB1B5BB12F1D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66675" cy="742950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8B4729-933C-4535-8CA4-05D4E846F4BA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493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00A7B5"/>
                </a:solidFill>
              </a:defRPr>
            </a:defPPr>
          </a:lstStyle>
          <a:p>
            <a:pPr algn="l">
              <a:defRPr sz="1350" b="1">
                <a:solidFill>
                  <a:srgbClr val="00A7B5"/>
                </a:solidFill>
              </a:defRPr>
            </a:pPr>
            <a:r>
              <a:rPr sz="1350" b="1">
                <a:solidFill>
                  <a:srgbClr val="00A7B5"/>
                </a:solidFill>
              </a:rPr>
              <a:t>Практическая ценность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554BB3-3E6D-4EFB-9B7A-F5AE60A06056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Онлайн-подстройка под пользователя и режим работы без вмешательства RL в силовой контур.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FFCCC19-4892-4EF3-8DAE-14E85D4B17AE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66675" cy="742950"/>
          </a:xfrm>
          <a:prstGeom prst="rect">
            <a:avLst/>
          </a:prstGeom>
          <a:solidFill>
            <a:srgbClr val="F39C4A"/>
          </a:solidFill>
          <a:ln w="0">
            <a:solidFill>
              <a:srgbClr val="F39C4A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B42386-AA04-42B3-A600-8DF60B9AD542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493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39C4A"/>
                </a:solidFill>
              </a:defRPr>
            </a:defPPr>
          </a:lstStyle>
          <a:p>
            <a:pPr algn="l">
              <a:defRPr sz="1350" b="1">
                <a:solidFill>
                  <a:srgbClr val="F39C4A"/>
                </a:solidFill>
              </a:defRPr>
            </a:pPr>
            <a:r>
              <a:rPr sz="1350" b="1">
                <a:solidFill>
                  <a:srgbClr val="F39C4A"/>
                </a:solidFill>
              </a:rPr>
              <a:t>Новизна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1703101-27F4-4E65-A616-CB394F228887}"/>
              </a:ext>
            </a:extLst>
          </p:cNvPr>
          <p:cNvSpPr>
            <a:spLocks noGrp="1"/>
          </p:cNvSpPr>
          <p:nvPr/>
        </p:nvSpPr>
        <p:spPr>
          <a:xfrm>
            <a:off x="876300" y="4886325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Умеренная: новая прикладная интеграция известных RL, PID и impedance control.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41CF9CC-6B38-40DD-85DA-95CAF97E8967}"/>
              </a:ext>
            </a:extLst>
          </p:cNvPr>
          <p:cNvSpPr>
            <a:spLocks noGrp="1"/>
          </p:cNvSpPr>
          <p:nvPr/>
        </p:nvSpPr>
        <p:spPr>
          <a:xfrm>
            <a:off x="6477000" y="1495425"/>
            <a:ext cx="4953000" cy="414337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5EF788-2CDE-4B7E-B1AA-70A97ED9304F}"/>
              </a:ext>
            </a:extLst>
          </p:cNvPr>
          <p:cNvSpPr>
            <a:spLocks noGrp="1"/>
          </p:cNvSpPr>
          <p:nvPr/>
        </p:nvSpPr>
        <p:spPr>
          <a:xfrm>
            <a:off x="6810375" y="17526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B54845"/>
                </a:solidFill>
              </a:defRPr>
            </a:defPPr>
          </a:lstStyle>
          <a:p>
            <a:pPr algn="l">
              <a:defRPr sz="1725" b="1">
                <a:solidFill>
                  <a:srgbClr val="B54845"/>
                </a:solidFill>
              </a:defRPr>
            </a:pPr>
            <a:r>
              <a:rPr sz="1725" b="1">
                <a:solidFill>
                  <a:srgbClr val="B54845"/>
                </a:solidFill>
              </a:rPr>
              <a:t>Что пока не доказано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9B5C750-6909-4CF4-BEBF-E4999072DFA6}"/>
              </a:ext>
            </a:extLst>
          </p:cNvPr>
          <p:cNvSpPr>
            <a:spLocks noGrp="1"/>
          </p:cNvSpPr>
          <p:nvPr/>
        </p:nvSpPr>
        <p:spPr>
          <a:xfrm>
            <a:off x="6762750" y="225742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18655D-A442-4B6E-BD5C-FFFCDCBC890E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648D53-4AF9-4DF8-B14A-D38122C4A625}"/>
              </a:ext>
            </a:extLst>
          </p:cNvPr>
          <p:cNvSpPr>
            <a:spLocks noGrp="1"/>
          </p:cNvSpPr>
          <p:nvPr/>
        </p:nvSpPr>
        <p:spPr>
          <a:xfrm>
            <a:off x="7239000" y="2219325"/>
            <a:ext cx="3857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В разделе результатов представлены математические модели, а не полноценные испытания на людях.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25E0629-5E58-4161-AF31-B3CC8D39FDA1}"/>
              </a:ext>
            </a:extLst>
          </p:cNvPr>
          <p:cNvSpPr>
            <a:spLocks noGrp="1"/>
          </p:cNvSpPr>
          <p:nvPr/>
        </p:nvSpPr>
        <p:spPr>
          <a:xfrm>
            <a:off x="6762750" y="303847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BD04E30-7486-44BB-9C5F-413A3D62A0F7}"/>
              </a:ext>
            </a:extLst>
          </p:cNvPr>
          <p:cNvSpPr>
            <a:spLocks noGrp="1"/>
          </p:cNvSpPr>
          <p:nvPr/>
        </p:nvSpPr>
        <p:spPr>
          <a:xfrm>
            <a:off x="6781800" y="30480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5492697-90E1-460D-9607-1E8B660A5B70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3857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Нет ЭМГ, статистики, описания испытуемых и объективной оценки комфорта.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45A4355-2017-4D55-8C89-2FF33A4F449F}"/>
              </a:ext>
            </a:extLst>
          </p:cNvPr>
          <p:cNvSpPr>
            <a:spLocks noGrp="1"/>
          </p:cNvSpPr>
          <p:nvPr/>
        </p:nvSpPr>
        <p:spPr>
          <a:xfrm>
            <a:off x="6762750" y="381952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83C6109-AF05-42F2-89CA-28E6425DC924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80FEF5B-4C4C-4C45-8F5B-E5D12834A44C}"/>
              </a:ext>
            </a:extLst>
          </p:cNvPr>
          <p:cNvSpPr>
            <a:spLocks noGrp="1"/>
          </p:cNvSpPr>
          <p:nvPr/>
        </p:nvSpPr>
        <p:spPr>
          <a:xfrm>
            <a:off x="7239000" y="3781425"/>
            <a:ext cx="3857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Не показано сравнение с адаптивным PID, MPC или другими современными методами.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972909EF-0DB0-4ECA-93EA-9D927C1E786C}"/>
              </a:ext>
            </a:extLst>
          </p:cNvPr>
          <p:cNvSpPr>
            <a:spLocks noGrp="1"/>
          </p:cNvSpPr>
          <p:nvPr/>
        </p:nvSpPr>
        <p:spPr>
          <a:xfrm>
            <a:off x="6762750" y="460057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C0CFA14-7935-448A-8A8A-EE67078CB656}"/>
              </a:ext>
            </a:extLst>
          </p:cNvPr>
          <p:cNvSpPr>
            <a:spLocks noGrp="1"/>
          </p:cNvSpPr>
          <p:nvPr/>
        </p:nvSpPr>
        <p:spPr>
          <a:xfrm>
            <a:off x="6781800" y="46101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68FC67C-4C1C-4C7E-AEC9-F006320762EF}"/>
              </a:ext>
            </a:extLst>
          </p:cNvPr>
          <p:cNvSpPr>
            <a:spLocks noGrp="1"/>
          </p:cNvSpPr>
          <p:nvPr/>
        </p:nvSpPr>
        <p:spPr>
          <a:xfrm>
            <a:off x="7239000" y="4562475"/>
            <a:ext cx="3857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В аннотации заявлен лабораторный эксперимент, но в заключении испытания с людьми названы будущей работой.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EA8731F-23B8-4953-B8FB-9A2129DFCBD3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76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12233F"/>
                </a:solidFill>
              </a:defRPr>
            </a:defPPr>
          </a:lstStyle>
          <a:p>
            <a:pPr algn="ctr"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Вывод: перспективная архитектура, но эффективность подтверждена главным образом моделированием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8F65963-1385-4DCC-B54D-A2129891B352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RusAutoCon 2026, DOI 10.1109/RusAutoCon69876.2026.11707381</a:t>
            </a:r>
          </a:p>
        </p:txBody>
      </p:sp>
    </p:spTree>
    <p:extLst>
      <p:ext uri="{BB962C8B-B14F-4D97-AF65-F5344CB8AC3E}">
        <p14:creationId xmlns:p14="http://schemas.microsoft.com/office/powerpoint/2010/main" val="4264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29FF42-37D5-4AF3-A52B-34DF283A22F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ru-RU" sz="2400" b="1" dirty="0">
                <a:solidFill>
                  <a:srgbClr val="12233F"/>
                </a:solidFill>
              </a:rPr>
              <a:t>4. </a:t>
            </a:r>
            <a:r>
              <a:rPr sz="2400" b="1" dirty="0">
                <a:solidFill>
                  <a:srgbClr val="12233F"/>
                </a:solidFill>
              </a:rPr>
              <a:t>DRL </a:t>
            </a:r>
            <a:r>
              <a:rPr sz="2400" b="1" dirty="0" err="1">
                <a:solidFill>
                  <a:srgbClr val="12233F"/>
                </a:solidFill>
              </a:rPr>
              <a:t>для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энергоменеджмента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отказоустойчивости</a:t>
            </a:r>
            <a:r>
              <a:rPr sz="2400" b="1" dirty="0">
                <a:solidFill>
                  <a:srgbClr val="12233F"/>
                </a:solidFill>
              </a:rPr>
              <a:t> V2G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FC4D8C-5D0D-4199-A9B3-537F4854C48E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F3F238-36DE-410B-8405-693264E00F12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571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1">
                <a:solidFill>
                  <a:srgbClr val="12233F"/>
                </a:solidFill>
              </a:defRPr>
            </a:defPPr>
          </a:lstStyle>
          <a:p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Один DQN-агент координирует энергию и аварийные режимы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30E779-F09D-4FF4-95BE-21F0117D044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00A7B5"/>
                </a:solidFill>
              </a:defRPr>
            </a:defPPr>
          </a:lstStyle>
          <a:p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Состояние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55AA5B-30F0-4240-BAEB-5C201256FDE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172033"/>
                </a:solidFill>
              </a:defRPr>
            </a:defPPr>
          </a:lstStyle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SOC аккумулятора, мощность нагрузки и ВИЭ, цена энергии, параметры сети, индекс тяжести отказа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5DC8DC-A34C-4A88-9ECC-99C904EA4801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F39C4A"/>
                </a:solidFill>
              </a:defRPr>
            </a:defPPr>
          </a:lstStyle>
          <a:p>
            <a:pPr algn="l">
              <a:defRPr sz="1275" b="1">
                <a:solidFill>
                  <a:srgbClr val="F39C4A"/>
                </a:solidFill>
              </a:defRPr>
            </a:pPr>
            <a:r>
              <a:rPr sz="1275" b="1">
                <a:solidFill>
                  <a:srgbClr val="F39C4A"/>
                </a:solidFill>
              </a:rPr>
              <a:t>Действия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B450492-FFB2-424C-95E1-834A048E8F6D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172033"/>
                </a:solidFill>
              </a:defRPr>
            </a:defPPr>
          </a:lstStyle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заряд и разряд, режим V2G, конфигурация преобразователя, ограничение мощности при отказе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DF45672-81D7-4084-ACC4-F37D684B76CB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4762500" cy="809625"/>
          </a:xfrm>
          <a:prstGeom prst="roundRect">
            <a:avLst>
              <a:gd name="adj" fmla="val 14118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EADC9ED-267B-4118-8606-E096B4690781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Целевая функция учитывает КПД, стоимость энергии, деградацию батареи и тяжесть отказа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61C8BC-F956-4DFA-A2D1-F480F9B2C20C}"/>
              </a:ext>
            </a:extLst>
          </p:cNvPr>
          <p:cNvSpPr>
            <a:spLocks noGrp="1"/>
          </p:cNvSpPr>
          <p:nvPr/>
        </p:nvSpPr>
        <p:spPr>
          <a:xfrm>
            <a:off x="6191250" y="5191125"/>
            <a:ext cx="485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2233F"/>
                </a:solidFill>
              </a:defRPr>
            </a:defPPr>
          </a:lstStyle>
          <a:p>
            <a:pPr algn="ctr">
              <a:defRPr sz="1350" b="1">
                <a:solidFill>
                  <a:srgbClr val="12233F"/>
                </a:solidFill>
              </a:defRPr>
            </a:pPr>
            <a:r>
              <a:rPr sz="1350" b="1">
                <a:solidFill>
                  <a:srgbClr val="12233F"/>
                </a:solidFill>
              </a:rPr>
              <a:t>Модель: батарея 60 кВт·ч, PMSM, VSI и двунаправленный DC/DC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E497B6D-BDCC-4A3B-912A-737BD5773E6B}"/>
              </a:ext>
            </a:extLst>
          </p:cNvPr>
          <p:cNvSpPr>
            <a:spLocks noGrp="1"/>
          </p:cNvSpPr>
          <p:nvPr/>
        </p:nvSpPr>
        <p:spPr>
          <a:xfrm>
            <a:off x="6191250" y="57816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B54845"/>
                </a:solidFill>
              </a:defRPr>
            </a:defPPr>
          </a:lstStyle>
          <a:p>
            <a:pPr algn="ctr">
              <a:defRPr sz="1350" b="1">
                <a:solidFill>
                  <a:srgbClr val="B54845"/>
                </a:solidFill>
              </a:defRPr>
            </a:pPr>
            <a:r>
              <a:rPr sz="1350" b="1">
                <a:solidFill>
                  <a:srgbClr val="B54845"/>
                </a:solidFill>
              </a:rPr>
              <a:t>Проверка выполнена только в MATLAB/Simulink R2024b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5F2A18-4439-438B-BA3A-209C30AAF3E3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CMSS 2026, DOI 10.1109/CMSS69636.2026.11689057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ADB1A0C-B092-49C2-AF4C-C4068B859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960" y="2124075"/>
            <a:ext cx="6140329" cy="27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9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BFB39A-2DCC-4CDB-9754-0FA8BE64C05E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ru-RU" sz="2400" b="1" dirty="0">
                <a:solidFill>
                  <a:srgbClr val="12233F"/>
                </a:solidFill>
              </a:rPr>
              <a:t>4. </a:t>
            </a:r>
            <a:r>
              <a:rPr sz="2400" b="1" dirty="0" err="1">
                <a:solidFill>
                  <a:srgbClr val="12233F"/>
                </a:solidFill>
              </a:rPr>
              <a:t>Результаты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критическая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оценка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814540-F5D7-4C99-80B3-3BDEB8C16DA9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03DEB6-4859-47FC-BA72-933A43A2FAE3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542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Заявленные результаты моделирования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65715A-9DBC-42B0-82EB-D77ED8A82658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00A7B5"/>
                </a:solidFill>
              </a:defRPr>
            </a:defPPr>
          </a:lstStyle>
          <a:p>
            <a:pPr algn="l">
              <a:defRPr sz="3600" b="1">
                <a:solidFill>
                  <a:srgbClr val="00A7B5"/>
                </a:solidFill>
              </a:defRPr>
            </a:pPr>
            <a:r>
              <a:rPr sz="3600" b="1">
                <a:solidFill>
                  <a:srgbClr val="00A7B5"/>
                </a:solidFill>
              </a:rPr>
              <a:t>95,2–96,4%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A1B405-192A-46F2-AB84-B20EFAFEC5F9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КПД системы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1418BD-2346-4F65-8033-662CA0499775}"/>
              </a:ext>
            </a:extLst>
          </p:cNvPr>
          <p:cNvSpPr>
            <a:spLocks noGrp="1"/>
          </p:cNvSpPr>
          <p:nvPr/>
        </p:nvSpPr>
        <p:spPr>
          <a:xfrm>
            <a:off x="2952750" y="192405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F39C4A"/>
                </a:solidFill>
              </a:defRPr>
            </a:defPPr>
          </a:lstStyle>
          <a:p>
            <a:pPr algn="l">
              <a:defRPr sz="3600" b="1">
                <a:solidFill>
                  <a:srgbClr val="F39C4A"/>
                </a:solidFill>
              </a:defRPr>
            </a:pPr>
            <a:r>
              <a:rPr sz="3600" b="1">
                <a:solidFill>
                  <a:srgbClr val="F39C4A"/>
                </a:solidFill>
              </a:rPr>
              <a:t>7,8 кВт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265BB7-090A-4D13-84E4-D9B4C20BE256}"/>
              </a:ext>
            </a:extLst>
          </p:cNvPr>
          <p:cNvSpPr>
            <a:spLocks noGrp="1"/>
          </p:cNvSpPr>
          <p:nvPr/>
        </p:nvSpPr>
        <p:spPr>
          <a:xfrm>
            <a:off x="2990850" y="264795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поддержка сети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5F19D2-6F57-444C-AAA3-1700493BEC7D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2E8B74"/>
                </a:solidFill>
              </a:defRPr>
            </a:defPPr>
          </a:lstStyle>
          <a:p>
            <a:pPr algn="l">
              <a:defRPr sz="3600" b="1">
                <a:solidFill>
                  <a:srgbClr val="2E8B74"/>
                </a:solidFill>
              </a:defRPr>
            </a:pPr>
            <a:r>
              <a:rPr sz="3600" b="1">
                <a:solidFill>
                  <a:srgbClr val="2E8B74"/>
                </a:solidFill>
              </a:rPr>
              <a:t>24 мс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8089C4-2BE9-46F4-9188-14564B8BB663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обнаружение отказа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46EB37-8E15-4ADC-A0CA-2CFEED2641C4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B54845"/>
                </a:solidFill>
              </a:defRPr>
            </a:defPPr>
          </a:lstStyle>
          <a:p>
            <a:pPr algn="l">
              <a:defRPr sz="3600" b="1">
                <a:solidFill>
                  <a:srgbClr val="B54845"/>
                </a:solidFill>
              </a:defRPr>
            </a:pPr>
            <a:r>
              <a:rPr sz="3600" b="1">
                <a:solidFill>
                  <a:srgbClr val="B54845"/>
                </a:solidFill>
              </a:rPr>
              <a:t>0,14 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C29743-7564-479A-B07B-19F43C8ABB28}"/>
              </a:ext>
            </a:extLst>
          </p:cNvPr>
          <p:cNvSpPr>
            <a:spLocks noGrp="1"/>
          </p:cNvSpPr>
          <p:nvPr/>
        </p:nvSpPr>
        <p:spPr>
          <a:xfrm>
            <a:off x="2990850" y="3962400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восстановление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59CB053-D6C0-4CA7-A58E-0207A7C20C8F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66675" cy="742950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5E32A8E-672B-4A98-818A-64BB571B339B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743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00A7B5"/>
                </a:solidFill>
              </a:defRPr>
            </a:defPPr>
          </a:lstStyle>
          <a:p>
            <a:pPr algn="l">
              <a:defRPr sz="1350" b="1">
                <a:solidFill>
                  <a:srgbClr val="00A7B5"/>
                </a:solidFill>
              </a:defRPr>
            </a:pPr>
            <a:r>
              <a:rPr sz="1350" b="1">
                <a:solidFill>
                  <a:srgbClr val="00A7B5"/>
                </a:solidFill>
              </a:rPr>
              <a:t>Практическая ценность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EF4A95C-B371-49E9-96E9-0CA918F6DC4B}"/>
              </a:ext>
            </a:extLst>
          </p:cNvPr>
          <p:cNvSpPr>
            <a:spLocks noGrp="1"/>
          </p:cNvSpPr>
          <p:nvPr/>
        </p:nvSpPr>
        <p:spPr>
          <a:xfrm>
            <a:off x="876300" y="5019675"/>
            <a:ext cx="474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RL можно использовать как диспетчер нормальных и аварийных режимов привода.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3DE878F-6F55-48EB-BA15-F0483E9EFCD5}"/>
              </a:ext>
            </a:extLst>
          </p:cNvPr>
          <p:cNvSpPr>
            <a:spLocks noGrp="1"/>
          </p:cNvSpPr>
          <p:nvPr/>
        </p:nvSpPr>
        <p:spPr>
          <a:xfrm>
            <a:off x="6191250" y="1495425"/>
            <a:ext cx="5238750" cy="4143375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6F356E1-38BC-40C3-9171-DB81A360CDCB}"/>
              </a:ext>
            </a:extLst>
          </p:cNvPr>
          <p:cNvSpPr>
            <a:spLocks noGrp="1"/>
          </p:cNvSpPr>
          <p:nvPr/>
        </p:nvSpPr>
        <p:spPr>
          <a:xfrm>
            <a:off x="6524625" y="1724025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B54845"/>
                </a:solidFill>
              </a:defRPr>
            </a:defPPr>
          </a:lstStyle>
          <a:p>
            <a:pPr algn="l">
              <a:defRPr sz="1725" b="1">
                <a:solidFill>
                  <a:srgbClr val="B54845"/>
                </a:solidFill>
              </a:defRPr>
            </a:pPr>
            <a:r>
              <a:rPr sz="1725" b="1">
                <a:solidFill>
                  <a:srgbClr val="B54845"/>
                </a:solidFill>
              </a:rPr>
              <a:t>Ограничения доказательной базы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CFB5E0B-9F33-4B8F-A04D-3A0AD08FDA56}"/>
              </a:ext>
            </a:extLst>
          </p:cNvPr>
          <p:cNvSpPr>
            <a:spLocks noGrp="1"/>
          </p:cNvSpPr>
          <p:nvPr/>
        </p:nvSpPr>
        <p:spPr>
          <a:xfrm>
            <a:off x="6477000" y="225742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6739FDD-4A31-476A-9DFF-D64B586F322D}"/>
              </a:ext>
            </a:extLst>
          </p:cNvPr>
          <p:cNvSpPr>
            <a:spLocks noGrp="1"/>
          </p:cNvSpPr>
          <p:nvPr/>
        </p:nvSpPr>
        <p:spPr>
          <a:xfrm>
            <a:off x="6496050" y="22669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FF17885-C18B-4D88-833A-A0A630AB2611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DQN требует дискретных действий, но мощности заряда и разряда описаны как непрерывные. Дискретизация не объяснена.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35AE580B-72E7-4E6D-BFF9-5B8BCCE6F65C}"/>
              </a:ext>
            </a:extLst>
          </p:cNvPr>
          <p:cNvSpPr>
            <a:spLocks noGrp="1"/>
          </p:cNvSpPr>
          <p:nvPr/>
        </p:nvSpPr>
        <p:spPr>
          <a:xfrm>
            <a:off x="6477000" y="307657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10B5F0-5428-4ADE-8980-64E0A997F1E3}"/>
              </a:ext>
            </a:extLst>
          </p:cNvPr>
          <p:cNvSpPr>
            <a:spLocks noGrp="1"/>
          </p:cNvSpPr>
          <p:nvPr/>
        </p:nvSpPr>
        <p:spPr>
          <a:xfrm>
            <a:off x="6496050" y="30861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E2011EF-A9A5-4E53-A0D8-F3EE82CA40EA}"/>
              </a:ext>
            </a:extLst>
          </p:cNvPr>
          <p:cNvSpPr>
            <a:spLocks noGrp="1"/>
          </p:cNvSpPr>
          <p:nvPr/>
        </p:nvSpPr>
        <p:spPr>
          <a:xfrm>
            <a:off x="6953250" y="30099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Нет описания диагностического алгоритма, состава данных и confusion matrix для заявленной точности 98,8%.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E53AEEA-6DE5-4CB5-AFF0-F1B76BC910B5}"/>
              </a:ext>
            </a:extLst>
          </p:cNvPr>
          <p:cNvSpPr>
            <a:spLocks noGrp="1"/>
          </p:cNvSpPr>
          <p:nvPr/>
        </p:nvSpPr>
        <p:spPr>
          <a:xfrm>
            <a:off x="6477000" y="389572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56787DF-BAFF-4FAE-8844-7939E1102CBE}"/>
              </a:ext>
            </a:extLst>
          </p:cNvPr>
          <p:cNvSpPr>
            <a:spLocks noGrp="1"/>
          </p:cNvSpPr>
          <p:nvPr/>
        </p:nvSpPr>
        <p:spPr>
          <a:xfrm>
            <a:off x="6496050" y="39052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244C074-50BE-4B6E-8C28-3A96413AC8AE}"/>
              </a:ext>
            </a:extLst>
          </p:cNvPr>
          <p:cNvSpPr>
            <a:spLocks noGrp="1"/>
          </p:cNvSpPr>
          <p:nvPr/>
        </p:nvSpPr>
        <p:spPr>
          <a:xfrm>
            <a:off x="6953250" y="38290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Сравнение проведено только с простым rule-based-контроллером. Нет MPC, адаптивного управления и HIL.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17841172-ECDF-4296-B6BF-A7A77EC138F2}"/>
              </a:ext>
            </a:extLst>
          </p:cNvPr>
          <p:cNvSpPr>
            <a:spLocks noGrp="1"/>
          </p:cNvSpPr>
          <p:nvPr/>
        </p:nvSpPr>
        <p:spPr>
          <a:xfrm>
            <a:off x="6477000" y="4714875"/>
            <a:ext cx="323850" cy="323850"/>
          </a:xfrm>
          <a:prstGeom prst="roundRect">
            <a:avLst>
              <a:gd name="adj" fmla="val 35294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4077586-CFB5-4236-88DC-A1E479E7BE83}"/>
              </a:ext>
            </a:extLst>
          </p:cNvPr>
          <p:cNvSpPr>
            <a:spLocks noGrp="1"/>
          </p:cNvSpPr>
          <p:nvPr/>
        </p:nvSpPr>
        <p:spPr>
          <a:xfrm>
            <a:off x="6496050" y="47244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FFFFFF"/>
                </a:solidFill>
              </a:defRPr>
            </a:defPPr>
          </a:lstStyle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047AF46-8CA4-4BC8-8E7B-943D34E3788B}"/>
              </a:ext>
            </a:extLst>
          </p:cNvPr>
          <p:cNvSpPr>
            <a:spLocks noGrp="1"/>
          </p:cNvSpPr>
          <p:nvPr/>
        </p:nvSpPr>
        <p:spPr>
          <a:xfrm>
            <a:off x="6953250" y="46482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Не исследованы шум датчиков, задержки связи, ошибки модели и устойчивость при переключении аварийных режимов.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627FCB2-8CAA-483D-B138-FFD7FFB7870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76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12233F"/>
                </a:solidFill>
              </a:defRPr>
            </a:defPPr>
          </a:lstStyle>
          <a:p>
            <a:pPr algn="ctr"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Новизна умеренная: ценность состоит в интеграции энергоменеджмента и обработки отказов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2418281-E360-4897-9A9E-B3BD046D8189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CMSS 2026, DOI 10.1109/CMSS69636.2026.11689057</a:t>
            </a:r>
          </a:p>
        </p:txBody>
      </p:sp>
    </p:spTree>
    <p:extLst>
      <p:ext uri="{BB962C8B-B14F-4D97-AF65-F5344CB8AC3E}">
        <p14:creationId xmlns:p14="http://schemas.microsoft.com/office/powerpoint/2010/main" val="123227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634288-F040-4836-85E8-89F0BDEB2FFA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ru-RU" sz="2400" b="1" dirty="0">
                <a:solidFill>
                  <a:srgbClr val="12233F"/>
                </a:solidFill>
              </a:rPr>
              <a:t>5. </a:t>
            </a:r>
            <a:r>
              <a:rPr sz="2400" b="1" dirty="0" err="1">
                <a:solidFill>
                  <a:srgbClr val="12233F"/>
                </a:solidFill>
              </a:rPr>
              <a:t>Различение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межвиткового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замыкания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размагничивания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7C75D2-5067-4C90-B368-23EDD69D003D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6CFE9D-AFB6-4EFA-842A-CAF9FD2D6EB4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419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00A7B5"/>
                </a:solidFill>
              </a:defRPr>
            </a:defPPr>
          </a:lstStyle>
          <a:p>
            <a:pPr algn="l">
              <a:defRPr sz="1650" b="1">
                <a:solidFill>
                  <a:srgbClr val="00A7B5"/>
                </a:solidFill>
              </a:defRPr>
            </a:pPr>
            <a:r>
              <a:rPr sz="1650" b="1">
                <a:solidFill>
                  <a:srgbClr val="00A7B5"/>
                </a:solidFill>
              </a:rPr>
              <a:t>Межвитковое замыкание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682DAE-A42E-4965-BA4D-E9D47D6F4060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419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39C4A"/>
                </a:solidFill>
              </a:defRPr>
            </a:defPPr>
          </a:lstStyle>
          <a:p>
            <a:pPr algn="l">
              <a:defRPr sz="1650" b="1">
                <a:solidFill>
                  <a:srgbClr val="F39C4A"/>
                </a:solidFill>
              </a:defRPr>
            </a:pPr>
            <a:r>
              <a:rPr sz="1650" b="1">
                <a:solidFill>
                  <a:srgbClr val="F39C4A"/>
                </a:solidFill>
              </a:rPr>
              <a:t>Размагничивание магнитов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C7645F-E55D-45E9-A16F-75CD322235DC}"/>
              </a:ext>
            </a:extLst>
          </p:cNvPr>
          <p:cNvSpPr>
            <a:spLocks noGrp="1"/>
          </p:cNvSpPr>
          <p:nvPr/>
        </p:nvSpPr>
        <p:spPr>
          <a:xfrm>
            <a:off x="742950" y="2009775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A7B5"/>
                </a:solidFill>
              </a:defRPr>
            </a:defPPr>
          </a:lstStyle>
          <a:p>
            <a:pPr algn="l">
              <a:defRPr sz="1500" b="1">
                <a:solidFill>
                  <a:srgbClr val="00A7B5"/>
                </a:solidFill>
              </a:defRPr>
            </a:pPr>
            <a:r>
              <a:rPr sz="1500" b="1">
                <a:solidFill>
                  <a:srgbClr val="00A7B5"/>
                </a:solidFill>
              </a:rPr>
              <a:t>•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07E9E66-9FF5-4F62-8E80-6323AC86EC50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асимметрия и рост фазного тока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D3B6A5-F38F-436C-831C-71F751B352C1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A7B5"/>
                </a:solidFill>
              </a:defRPr>
            </a:defPPr>
          </a:lstStyle>
          <a:p>
            <a:pPr algn="l">
              <a:defRPr sz="1500" b="1">
                <a:solidFill>
                  <a:srgbClr val="00A7B5"/>
                </a:solidFill>
              </a:defRPr>
            </a:pPr>
            <a:r>
              <a:rPr sz="1500" b="1">
                <a:solidFill>
                  <a:srgbClr val="00A7B5"/>
                </a:solidFill>
              </a:rPr>
              <a:t>•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D6C3319-AB81-47D6-8C20-2FCDFACC2350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циркулирующий ток в повреждённых витках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79F44F-2D43-489C-9EA1-D4CF6DBEAAA8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A7B5"/>
                </a:solidFill>
              </a:defRPr>
            </a:defPPr>
          </a:lstStyle>
          <a:p>
            <a:pPr algn="l">
              <a:defRPr sz="1500" b="1">
                <a:solidFill>
                  <a:srgbClr val="00A7B5"/>
                </a:solidFill>
              </a:defRPr>
            </a:pPr>
            <a:r>
              <a:rPr sz="1500" b="1">
                <a:solidFill>
                  <a:srgbClr val="00A7B5"/>
                </a:solidFill>
              </a:rPr>
              <a:t>•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756947-AE38-4321-BCE3-2580ADDCF98B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3-я гармоника фазного тока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98EC67-AFA0-4E48-A5E5-960CA2C885CF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0A7B5"/>
                </a:solidFill>
              </a:defRPr>
            </a:defPPr>
          </a:lstStyle>
          <a:p>
            <a:pPr algn="l">
              <a:defRPr sz="1500" b="1">
                <a:solidFill>
                  <a:srgbClr val="00A7B5"/>
                </a:solidFill>
              </a:defRPr>
            </a:pPr>
            <a:r>
              <a:rPr sz="1500" b="1">
                <a:solidFill>
                  <a:srgbClr val="00A7B5"/>
                </a:solidFill>
              </a:rPr>
              <a:t>•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87C7CA-00C2-4C7E-8467-AB8C478C86BD}"/>
              </a:ext>
            </a:extLst>
          </p:cNvPr>
          <p:cNvSpPr>
            <a:spLocks noGrp="1"/>
          </p:cNvSpPr>
          <p:nvPr/>
        </p:nvSpPr>
        <p:spPr>
          <a:xfrm>
            <a:off x="990600" y="3267075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локальное насыщение зубцов статора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0AA899-10E5-4491-AC02-4E4D7EC58198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39C4A"/>
                </a:solidFill>
              </a:defRPr>
            </a:defPPr>
          </a:lstStyle>
          <a:p>
            <a:pPr algn="l">
              <a:defRPr sz="1500" b="1">
                <a:solidFill>
                  <a:srgbClr val="F39C4A"/>
                </a:solidFill>
              </a:defRPr>
            </a:pPr>
            <a:r>
              <a:rPr sz="1500" b="1">
                <a:solidFill>
                  <a:srgbClr val="F39C4A"/>
                </a:solidFill>
              </a:rPr>
              <a:t>•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EF26FC6-0CA6-436C-BC8B-67E4863DB88B}"/>
              </a:ext>
            </a:extLst>
          </p:cNvPr>
          <p:cNvSpPr>
            <a:spLocks noGrp="1"/>
          </p:cNvSpPr>
          <p:nvPr/>
        </p:nvSpPr>
        <p:spPr>
          <a:xfrm>
            <a:off x="990600" y="4181475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снижение амплитуды обратной ЭДС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D95E70-2D9C-4C86-9C11-2AC8B2EA29A4}"/>
              </a:ext>
            </a:extLst>
          </p:cNvPr>
          <p:cNvSpPr>
            <a:spLocks noGrp="1"/>
          </p:cNvSpPr>
          <p:nvPr/>
        </p:nvSpPr>
        <p:spPr>
          <a:xfrm>
            <a:off x="742950" y="4638675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39C4A"/>
                </a:solidFill>
              </a:defRPr>
            </a:defPPr>
          </a:lstStyle>
          <a:p>
            <a:pPr algn="l">
              <a:defRPr sz="1500" b="1">
                <a:solidFill>
                  <a:srgbClr val="F39C4A"/>
                </a:solidFill>
              </a:defRPr>
            </a:pPr>
            <a:r>
              <a:rPr sz="1500" b="1">
                <a:solidFill>
                  <a:srgbClr val="F39C4A"/>
                </a:solidFill>
              </a:rPr>
              <a:t>•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041D0C1-432A-43C0-95E2-E5059B20A28C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в основном симметричные фазные токи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F19C167-6A18-4C29-ADDD-41E665442158}"/>
              </a:ext>
            </a:extLst>
          </p:cNvPr>
          <p:cNvSpPr>
            <a:spLocks noGrp="1"/>
          </p:cNvSpPr>
          <p:nvPr/>
        </p:nvSpPr>
        <p:spPr>
          <a:xfrm>
            <a:off x="742950" y="5067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39C4A"/>
                </a:solidFill>
              </a:defRPr>
            </a:defPPr>
          </a:lstStyle>
          <a:p>
            <a:pPr algn="l">
              <a:defRPr sz="1500" b="1">
                <a:solidFill>
                  <a:srgbClr val="F39C4A"/>
                </a:solidFill>
              </a:defRPr>
            </a:pPr>
            <a:r>
              <a:rPr sz="1500" b="1">
                <a:solidFill>
                  <a:srgbClr val="F39C4A"/>
                </a:solidFill>
              </a:rPr>
              <a:t>•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A83359B-94D9-4A07-AD4A-7DFDAB2E4E90}"/>
              </a:ext>
            </a:extLst>
          </p:cNvPr>
          <p:cNvSpPr>
            <a:spLocks noGrp="1"/>
          </p:cNvSpPr>
          <p:nvPr/>
        </p:nvSpPr>
        <p:spPr>
          <a:xfrm>
            <a:off x="990600" y="5038725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3-я гармоника ЭДС и 2-я гармоника iq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AA2919D-8A2E-43F4-AAD5-0E7F1B375D9E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39C4A"/>
                </a:solidFill>
              </a:defRPr>
            </a:defPPr>
          </a:lstStyle>
          <a:p>
            <a:pPr algn="l">
              <a:defRPr sz="1500" b="1">
                <a:solidFill>
                  <a:srgbClr val="F39C4A"/>
                </a:solidFill>
              </a:defRPr>
            </a:pPr>
            <a:r>
              <a:rPr sz="1500" b="1">
                <a:solidFill>
                  <a:srgbClr val="F39C4A"/>
                </a:solidFill>
              </a:rPr>
              <a:t>•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E41E44D-467A-48DF-ADE1-D9E4C209C1C0}"/>
              </a:ext>
            </a:extLst>
          </p:cNvPr>
          <p:cNvSpPr>
            <a:spLocks noGrp="1"/>
          </p:cNvSpPr>
          <p:nvPr/>
        </p:nvSpPr>
        <p:spPr>
          <a:xfrm>
            <a:off x="990600" y="54673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ослабление поля около повреждённого полюса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DC71257-E231-4D2A-9684-D3B9493FBEC0}"/>
              </a:ext>
            </a:extLst>
          </p:cNvPr>
          <p:cNvSpPr>
            <a:spLocks noGrp="1"/>
          </p:cNvSpPr>
          <p:nvPr/>
        </p:nvSpPr>
        <p:spPr>
          <a:xfrm>
            <a:off x="6191250" y="5905500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2233F"/>
                </a:solidFill>
              </a:defRPr>
            </a:defPPr>
          </a:lstStyle>
          <a:p>
            <a:pPr algn="ctr">
              <a:defRPr sz="1350" b="1">
                <a:solidFill>
                  <a:srgbClr val="12233F"/>
                </a:solidFill>
              </a:defRPr>
            </a:pPr>
            <a:r>
              <a:rPr sz="1350" b="1">
                <a:solidFill>
                  <a:srgbClr val="12233F"/>
                </a:solidFill>
              </a:rPr>
              <a:t>FEM показывает пространственное различие дефектов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104E9AD-01FA-4C4A-8B11-7F0C5D57F903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IEEE PESGM 2026, DOI 10.1109/PESGM58988.2026.11693518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DC56E7E-9A7B-49C9-A069-F5EDC3454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433" y="1381124"/>
            <a:ext cx="5465286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4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02C92A-1FA1-41CE-BC10-38B9282401F7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en-US" sz="2400" b="1" dirty="0">
                <a:solidFill>
                  <a:srgbClr val="12233F"/>
                </a:solidFill>
              </a:rPr>
              <a:t>5. </a:t>
            </a:r>
            <a:r>
              <a:rPr sz="2400" b="1" dirty="0" err="1">
                <a:solidFill>
                  <a:srgbClr val="12233F"/>
                </a:solidFill>
              </a:rPr>
              <a:t>Диагностический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подход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ограничения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3D72DAA-8B50-4798-AB50-097DB54C92DD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4280BF-314F-4A04-83D6-FDE1547BADC9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476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2233F"/>
                </a:solidFill>
              </a:defRPr>
            </a:defPPr>
          </a:lstStyle>
          <a:p>
            <a:pPr algn="l"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Практическая схема для стенда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7CEC968-FEE5-478E-BD8C-E4E2A7661045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7B5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33802B-733F-4211-84DC-A777FFC11632}"/>
              </a:ext>
            </a:extLst>
          </p:cNvPr>
          <p:cNvSpPr>
            <a:spLocks noGrp="1"/>
          </p:cNvSpPr>
          <p:nvPr/>
        </p:nvSpPr>
        <p:spPr>
          <a:xfrm>
            <a:off x="714375" y="21050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CE692E-8F48-4FED-BCEB-A2DD30B110C8}"/>
              </a:ext>
            </a:extLst>
          </p:cNvPr>
          <p:cNvSpPr>
            <a:spLocks noGrp="1"/>
          </p:cNvSpPr>
          <p:nvPr/>
        </p:nvSpPr>
        <p:spPr>
          <a:xfrm>
            <a:off x="1238250" y="20574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033"/>
                </a:solidFill>
              </a:defRPr>
            </a:defPPr>
          </a:lstStyle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Токи, напряжения, скорость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BDB2C9-54DC-41E3-9511-95FA7807510D}"/>
              </a:ext>
            </a:extLst>
          </p:cNvPr>
          <p:cNvSpPr>
            <a:spLocks noGrp="1"/>
          </p:cNvSpPr>
          <p:nvPr/>
        </p:nvSpPr>
        <p:spPr>
          <a:xfrm>
            <a:off x="762000" y="24860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5D687A"/>
                </a:solidFill>
              </a:defRPr>
            </a:defPPr>
          </a:lstStyle>
          <a:p>
            <a:pPr algn="ctr">
              <a:defRPr sz="1500" b="1">
                <a:solidFill>
                  <a:srgbClr val="5D687A"/>
                </a:solidFill>
              </a:defRPr>
            </a:pPr>
            <a:r>
              <a:rPr sz="1500" b="1">
                <a:solidFill>
                  <a:srgbClr val="5D687A"/>
                </a:solidFill>
              </a:rPr>
              <a:t>↓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DCAEEA3-2C97-4311-9016-0040701E38AB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7B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1B0BBD-04EA-441F-BBEF-14FA265F7E21}"/>
              </a:ext>
            </a:extLst>
          </p:cNvPr>
          <p:cNvSpPr>
            <a:spLocks noGrp="1"/>
          </p:cNvSpPr>
          <p:nvPr/>
        </p:nvSpPr>
        <p:spPr>
          <a:xfrm>
            <a:off x="714375" y="288607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F663D1F-FF4E-4420-B127-9F77DB9F3B5E}"/>
              </a:ext>
            </a:extLst>
          </p:cNvPr>
          <p:cNvSpPr>
            <a:spLocks noGrp="1"/>
          </p:cNvSpPr>
          <p:nvPr/>
        </p:nvSpPr>
        <p:spPr>
          <a:xfrm>
            <a:off x="1238250" y="28384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033"/>
                </a:solidFill>
              </a:defRPr>
            </a:defPPr>
          </a:lstStyle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Оценка ЭДС и потокосцепления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54ABB04-1236-4715-BBF1-A824FFEDC947}"/>
              </a:ext>
            </a:extLst>
          </p:cNvPr>
          <p:cNvSpPr>
            <a:spLocks noGrp="1"/>
          </p:cNvSpPr>
          <p:nvPr/>
        </p:nvSpPr>
        <p:spPr>
          <a:xfrm>
            <a:off x="762000" y="32670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5D687A"/>
                </a:solidFill>
              </a:defRPr>
            </a:defPPr>
          </a:lstStyle>
          <a:p>
            <a:pPr algn="ctr">
              <a:defRPr sz="1500" b="1">
                <a:solidFill>
                  <a:srgbClr val="5D687A"/>
                </a:solidFill>
              </a:defRPr>
            </a:pPr>
            <a:r>
              <a:rPr sz="1500" b="1">
                <a:solidFill>
                  <a:srgbClr val="5D687A"/>
                </a:solidFill>
              </a:rPr>
              <a:t>↓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370739C-F27A-4016-9729-4932E74127E5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0A7B5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4E8DB3-4443-43C7-8AF5-E6E7A5D3CEE8}"/>
              </a:ext>
            </a:extLst>
          </p:cNvPr>
          <p:cNvSpPr>
            <a:spLocks noGrp="1"/>
          </p:cNvSpPr>
          <p:nvPr/>
        </p:nvSpPr>
        <p:spPr>
          <a:xfrm>
            <a:off x="714375" y="36671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9B210F6-A568-4FB0-BED6-832185D9ECAD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033"/>
                </a:solidFill>
              </a:defRPr>
            </a:defPPr>
          </a:lstStyle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FFT и синхронные гармоники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B566423-F7A5-42E7-BD7A-4027F5F7C3D2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5D687A"/>
                </a:solidFill>
              </a:defRPr>
            </a:defPPr>
          </a:lstStyle>
          <a:p>
            <a:pPr algn="ctr">
              <a:defRPr sz="1500" b="1">
                <a:solidFill>
                  <a:srgbClr val="5D687A"/>
                </a:solidFill>
              </a:defRPr>
            </a:pPr>
            <a:r>
              <a:rPr sz="1500" b="1">
                <a:solidFill>
                  <a:srgbClr val="5D687A"/>
                </a:solidFill>
              </a:rPr>
              <a:t>↓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28B257A5-58C8-493B-A6F9-0DFAC199FE4E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39C4A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21EA9AC-56BE-4421-B983-4897D14158E8}"/>
              </a:ext>
            </a:extLst>
          </p:cNvPr>
          <p:cNvSpPr>
            <a:spLocks noGrp="1"/>
          </p:cNvSpPr>
          <p:nvPr/>
        </p:nvSpPr>
        <p:spPr>
          <a:xfrm>
            <a:off x="714375" y="444817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45BF37F-408E-4CAE-B952-928EBAA80780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72033"/>
                </a:solidFill>
              </a:defRPr>
            </a:defPPr>
          </a:lstStyle>
          <a:p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Классификация типа дефекта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F4AD197-F454-492E-ADBE-6878E785C3BD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4762500" cy="666750"/>
          </a:xfrm>
          <a:prstGeom prst="roundRect">
            <a:avLst>
              <a:gd name="adj" fmla="val 17143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784CBB-1F4B-4654-9225-0DD649B5305C}"/>
              </a:ext>
            </a:extLst>
          </p:cNvPr>
          <p:cNvSpPr>
            <a:spLocks noGrp="1"/>
          </p:cNvSpPr>
          <p:nvPr/>
        </p:nvSpPr>
        <p:spPr>
          <a:xfrm>
            <a:off x="904875" y="52768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13" b="1">
                <a:solidFill>
                  <a:srgbClr val="FFFFFF"/>
                </a:solidFill>
              </a:defRPr>
            </a:defPPr>
          </a:lstStyle>
          <a:p>
            <a:pPr algn="ctr">
              <a:defRPr sz="1313" b="1">
                <a:solidFill>
                  <a:srgbClr val="FFFFFF"/>
                </a:solidFill>
              </a:defRPr>
            </a:pPr>
            <a:r>
              <a:rPr sz="1313" b="1">
                <a:solidFill>
                  <a:srgbClr val="FFFFFF"/>
                </a:solidFill>
              </a:rPr>
              <a:t>FEM формирует базу признаков заранее, а онлайн-диагностика использует измеряемые сигналы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B414B78D-6F54-4B15-9CFB-415F2B36BDD2}"/>
              </a:ext>
            </a:extLst>
          </p:cNvPr>
          <p:cNvSpPr>
            <a:spLocks noGrp="1"/>
          </p:cNvSpPr>
          <p:nvPr/>
        </p:nvSpPr>
        <p:spPr>
          <a:xfrm>
            <a:off x="6096000" y="1495425"/>
            <a:ext cx="5334000" cy="417195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E96AC79-5510-4971-A3EF-D0D10EB38D06}"/>
              </a:ext>
            </a:extLst>
          </p:cNvPr>
          <p:cNvSpPr>
            <a:spLocks noGrp="1"/>
          </p:cNvSpPr>
          <p:nvPr/>
        </p:nvSpPr>
        <p:spPr>
          <a:xfrm>
            <a:off x="6429375" y="172402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B54845"/>
                </a:solidFill>
              </a:defRPr>
            </a:defPPr>
          </a:lstStyle>
          <a:p>
            <a:pPr algn="l">
              <a:defRPr sz="1725" b="1">
                <a:solidFill>
                  <a:srgbClr val="B54845"/>
                </a:solidFill>
              </a:defRPr>
            </a:pPr>
            <a:r>
              <a:rPr sz="1725" b="1">
                <a:solidFill>
                  <a:srgbClr val="B54845"/>
                </a:solidFill>
              </a:rPr>
              <a:t>Что статья пока не доказывает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0CC363A-C2CF-46D4-9150-A9A4C7A93F81}"/>
              </a:ext>
            </a:extLst>
          </p:cNvPr>
          <p:cNvSpPr>
            <a:spLocks noGrp="1"/>
          </p:cNvSpPr>
          <p:nvPr/>
        </p:nvSpPr>
        <p:spPr>
          <a:xfrm>
            <a:off x="6381750" y="225742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978D005-6A9F-41C3-8A56-D11D0C346D8F}"/>
              </a:ext>
            </a:extLst>
          </p:cNvPr>
          <p:cNvSpPr>
            <a:spLocks noGrp="1"/>
          </p:cNvSpPr>
          <p:nvPr/>
        </p:nvSpPr>
        <p:spPr>
          <a:xfrm>
            <a:off x="6391275" y="2266950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FFFFF"/>
                </a:solidFill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A87FA8F-92AB-4DD7-80E5-666109C1D848}"/>
              </a:ext>
            </a:extLst>
          </p:cNvPr>
          <p:cNvSpPr>
            <a:spLocks noGrp="1"/>
          </p:cNvSpPr>
          <p:nvPr/>
        </p:nvSpPr>
        <p:spPr>
          <a:xfrm>
            <a:off x="6858000" y="2181225"/>
            <a:ext cx="4143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Нет испытаний на реальном двигателе. Все результаты получены моделированием.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9255FA3-322C-4AF3-8B9A-4CC0109ECF7A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D0B2B59-6C43-4FEE-B237-91EB2424AC6D}"/>
              </a:ext>
            </a:extLst>
          </p:cNvPr>
          <p:cNvSpPr>
            <a:spLocks noGrp="1"/>
          </p:cNvSpPr>
          <p:nvPr/>
        </p:nvSpPr>
        <p:spPr>
          <a:xfrm>
            <a:off x="6391275" y="2914650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FFFFF"/>
                </a:solidFill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9216D3C-8D23-4C23-A43C-8BF15E152603}"/>
              </a:ext>
            </a:extLst>
          </p:cNvPr>
          <p:cNvSpPr>
            <a:spLocks noGrp="1"/>
          </p:cNvSpPr>
          <p:nvPr/>
        </p:nvSpPr>
        <p:spPr>
          <a:xfrm>
            <a:off x="6858000" y="2828925"/>
            <a:ext cx="4143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Заявленный диагностический индекс в основной части не определён.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8299EC58-5867-44BE-9D26-DC757F6AEAD6}"/>
              </a:ext>
            </a:extLst>
          </p:cNvPr>
          <p:cNvSpPr>
            <a:spLocks noGrp="1"/>
          </p:cNvSpPr>
          <p:nvPr/>
        </p:nvSpPr>
        <p:spPr>
          <a:xfrm>
            <a:off x="6381750" y="355282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65C5757-CA0D-45D0-81FD-5625E16D7A4C}"/>
              </a:ext>
            </a:extLst>
          </p:cNvPr>
          <p:cNvSpPr>
            <a:spLocks noGrp="1"/>
          </p:cNvSpPr>
          <p:nvPr/>
        </p:nvSpPr>
        <p:spPr>
          <a:xfrm>
            <a:off x="6391275" y="3562350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FFFFF"/>
                </a:solidFill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2601C6-0BFB-41A0-85D8-269C37A15AAA}"/>
              </a:ext>
            </a:extLst>
          </p:cNvPr>
          <p:cNvSpPr>
            <a:spLocks noGrp="1"/>
          </p:cNvSpPr>
          <p:nvPr/>
        </p:nvSpPr>
        <p:spPr>
          <a:xfrm>
            <a:off x="6858000" y="3476625"/>
            <a:ext cx="4143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Нет порогов, точности классификации, ложных срабатываний и confusion matrix.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58CC8A3C-9F8A-4BF9-AB92-500D7D07250D}"/>
              </a:ext>
            </a:extLst>
          </p:cNvPr>
          <p:cNvSpPr>
            <a:spLocks noGrp="1"/>
          </p:cNvSpPr>
          <p:nvPr/>
        </p:nvSpPr>
        <p:spPr>
          <a:xfrm>
            <a:off x="6381750" y="420052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8C94C85-B005-4955-9FD4-B46F90BE3899}"/>
              </a:ext>
            </a:extLst>
          </p:cNvPr>
          <p:cNvSpPr>
            <a:spLocks noGrp="1"/>
          </p:cNvSpPr>
          <p:nvPr/>
        </p:nvSpPr>
        <p:spPr>
          <a:xfrm>
            <a:off x="6391275" y="4210050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FFFFF"/>
                </a:solidFill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6340A9B-85CE-4F7A-8657-2BC4E7104537}"/>
              </a:ext>
            </a:extLst>
          </p:cNvPr>
          <p:cNvSpPr>
            <a:spLocks noGrp="1"/>
          </p:cNvSpPr>
          <p:nvPr/>
        </p:nvSpPr>
        <p:spPr>
          <a:xfrm>
            <a:off x="6858000" y="4124325"/>
            <a:ext cx="4143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Режимы в основном исследованы при 1000 об/мин. Не проверены шум, переходные процессы и широкий диапазон нагрузки.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4AEC675C-E311-4D5F-9246-80E2AFD3F1BA}"/>
              </a:ext>
            </a:extLst>
          </p:cNvPr>
          <p:cNvSpPr>
            <a:spLocks noGrp="1"/>
          </p:cNvSpPr>
          <p:nvPr/>
        </p:nvSpPr>
        <p:spPr>
          <a:xfrm>
            <a:off x="6381750" y="4848225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B54845"/>
          </a:solidFill>
          <a:ln w="0">
            <a:noFill/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F6ED24E-EB87-4B72-914C-2624854FCB48}"/>
              </a:ext>
            </a:extLst>
          </p:cNvPr>
          <p:cNvSpPr>
            <a:spLocks noGrp="1"/>
          </p:cNvSpPr>
          <p:nvPr/>
        </p:nvSpPr>
        <p:spPr>
          <a:xfrm>
            <a:off x="6391275" y="4857750"/>
            <a:ext cx="285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FFFFF"/>
                </a:solidFill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0222BCA-7AC4-4086-B6DC-6976812F4DA6}"/>
              </a:ext>
            </a:extLst>
          </p:cNvPr>
          <p:cNvSpPr>
            <a:spLocks noGrp="1"/>
          </p:cNvSpPr>
          <p:nvPr/>
        </p:nvSpPr>
        <p:spPr>
          <a:xfrm>
            <a:off x="6858000" y="4772025"/>
            <a:ext cx="4143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Размагничивание до 50–60% соответствует тяжёлому дефекту. Раннее обнаружение слабого повреждения не подтверждено.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A994E73-5FE3-427F-9DE9-B0E784C5FEDF}"/>
              </a:ext>
            </a:extLst>
          </p:cNvPr>
          <p:cNvSpPr>
            <a:spLocks noGrp="1"/>
          </p:cNvSpPr>
          <p:nvPr/>
        </p:nvSpPr>
        <p:spPr>
          <a:xfrm>
            <a:off x="666750" y="59817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88" b="1">
                <a:solidFill>
                  <a:srgbClr val="12233F"/>
                </a:solidFill>
              </a:defRPr>
            </a:defPPr>
          </a:lstStyle>
          <a:p>
            <a:pPr algn="ctr">
              <a:defRPr sz="1388" b="1">
                <a:solidFill>
                  <a:srgbClr val="12233F"/>
                </a:solidFill>
              </a:defRPr>
            </a:pPr>
            <a:r>
              <a:rPr sz="1388" b="1">
                <a:solidFill>
                  <a:srgbClr val="12233F"/>
                </a:solidFill>
              </a:rPr>
              <a:t>Новизна умеренная: совместное объяснение признаков двух дефектов, но не готовый онлайн-алгоритм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D7B642B-2030-4BDD-A481-F01CB49788C3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IEEE PESGM 2026, DOI 10.1109/PESGM58988.2026.11693518</a:t>
            </a:r>
          </a:p>
        </p:txBody>
      </p:sp>
    </p:spTree>
    <p:extLst>
      <p:ext uri="{BB962C8B-B14F-4D97-AF65-F5344CB8AC3E}">
        <p14:creationId xmlns:p14="http://schemas.microsoft.com/office/powerpoint/2010/main" val="172529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39BA08A-3FB6-4D15-A474-5F29E53095DF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en-US" sz="2400" b="1" dirty="0">
                <a:solidFill>
                  <a:srgbClr val="12233F"/>
                </a:solidFill>
              </a:rPr>
              <a:t>6. </a:t>
            </a:r>
            <a:r>
              <a:rPr sz="2400" b="1" dirty="0" err="1">
                <a:solidFill>
                  <a:srgbClr val="12233F"/>
                </a:solidFill>
              </a:rPr>
              <a:t>Комбинированное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масляное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охлаждение</a:t>
            </a:r>
            <a:r>
              <a:rPr sz="2400" b="1" dirty="0">
                <a:solidFill>
                  <a:srgbClr val="12233F"/>
                </a:solidFill>
              </a:rPr>
              <a:t> PMSM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95067A-0662-4F6B-A200-66DE8A19BCA8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20FC41-10AD-4549-A719-82097BE662F9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12233F"/>
                </a:solidFill>
              </a:defRPr>
            </a:defPPr>
          </a:lstStyle>
          <a:p>
            <a:pPr algn="ctr">
              <a:defRPr sz="1650" b="1">
                <a:solidFill>
                  <a:srgbClr val="12233F"/>
                </a:solidFill>
              </a:defRPr>
            </a:pPr>
            <a:r>
              <a:rPr sz="1650" b="1">
                <a:solidFill>
                  <a:srgbClr val="12233F"/>
                </a:solidFill>
              </a:rPr>
              <a:t>Один вход, две гидравлически связанные ветви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BA2445-B14F-462D-8D5A-A72CA5FAA6DB}"/>
              </a:ext>
            </a:extLst>
          </p:cNvPr>
          <p:cNvSpPr>
            <a:spLocks noGrp="1"/>
          </p:cNvSpPr>
          <p:nvPr/>
        </p:nvSpPr>
        <p:spPr>
          <a:xfrm>
            <a:off x="7905750" y="22383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00A7B5"/>
                </a:solidFill>
              </a:defRPr>
            </a:defPPr>
          </a:lstStyle>
          <a:p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Прямая ветвь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77CF4-48F0-4533-961D-FAC06F21CA1C}"/>
              </a:ext>
            </a:extLst>
          </p:cNvPr>
          <p:cNvSpPr>
            <a:spLocks noGrp="1"/>
          </p:cNvSpPr>
          <p:nvPr/>
        </p:nvSpPr>
        <p:spPr>
          <a:xfrm>
            <a:off x="7905750" y="2524125"/>
            <a:ext cx="3143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масло через сопла поступает к обмоткам и статору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FCF547-ECC6-450F-9270-6A3F69E36B15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F39C4A"/>
                </a:solidFill>
              </a:defRPr>
            </a:defPPr>
          </a:lstStyle>
          <a:p>
            <a:pPr algn="l">
              <a:defRPr sz="1275" b="1">
                <a:solidFill>
                  <a:srgbClr val="F39C4A"/>
                </a:solidFill>
              </a:defRPr>
            </a:pPr>
            <a:r>
              <a:rPr sz="1275" b="1">
                <a:solidFill>
                  <a:srgbClr val="F39C4A"/>
                </a:solidFill>
              </a:rPr>
              <a:t>Косвенная ветвь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B516B30-C4C4-4CF1-A0D8-2622E984D967}"/>
              </a:ext>
            </a:extLst>
          </p:cNvPr>
          <p:cNvSpPr>
            <a:spLocks noGrp="1"/>
          </p:cNvSpPr>
          <p:nvPr/>
        </p:nvSpPr>
        <p:spPr>
          <a:xfrm>
            <a:off x="7905750" y="3638550"/>
            <a:ext cx="3143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каналы в корпусе отводят тепло от наружной поверхности статора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A07CE37-8900-4B80-BAD9-A37144B77C1C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10572750" cy="85725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7545DA5-C08B-41BA-B66F-258F1DC7F733}"/>
              </a:ext>
            </a:extLst>
          </p:cNvPr>
          <p:cNvSpPr>
            <a:spLocks noGrp="1"/>
          </p:cNvSpPr>
          <p:nvPr/>
        </p:nvSpPr>
        <p:spPr>
          <a:xfrm>
            <a:off x="904875" y="529590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Оптимизируются диаметр сопла Dn, расход Qin и входная температура Tin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516985-5008-4E72-AFBF-42301FDEEFCF}"/>
              </a:ext>
            </a:extLst>
          </p:cNvPr>
          <p:cNvSpPr>
            <a:spLocks noGrp="1"/>
          </p:cNvSpPr>
          <p:nvPr/>
        </p:nvSpPr>
        <p:spPr>
          <a:xfrm>
            <a:off x="6191250" y="529590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Цели: температуры статора, обмотки и корпуса, а также идеальная мощность насоса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C2BF0C2-E8E1-4ED1-BCE7-ACECAA4C45EC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Electronics 2026, 15, 4556. DOI 10.3390/electronics15194556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5C3A36-F396-4CA6-A6DF-1B3CA9A24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63164"/>
            <a:ext cx="7121897" cy="270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39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559633-BF8E-43C7-A6BF-CD7C202B8AC9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en-US" sz="2400" b="1" dirty="0">
                <a:solidFill>
                  <a:srgbClr val="12233F"/>
                </a:solidFill>
              </a:rPr>
              <a:t>6. </a:t>
            </a:r>
            <a:r>
              <a:rPr sz="2400" b="1" dirty="0" err="1">
                <a:solidFill>
                  <a:srgbClr val="12233F"/>
                </a:solidFill>
              </a:rPr>
              <a:t>Выбранный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режим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границы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результата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E7F23C3-2C01-4B16-9B31-C119901BDC9E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1B49B7-AC50-4EA8-B876-440E975AD03F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533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1">
                <a:solidFill>
                  <a:srgbClr val="12233F"/>
                </a:solidFill>
              </a:defRPr>
            </a:defPPr>
          </a:lstStyle>
          <a:p>
            <a:pPr algn="l"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Компромисс внутри исследованного диапазона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D2AD79-3DA4-4F69-B27B-D737AB358F7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00A7B5"/>
                </a:solidFill>
              </a:defRPr>
            </a:defPPr>
          </a:lstStyle>
          <a:p>
            <a:pPr algn="l">
              <a:defRPr sz="3150" b="1">
                <a:solidFill>
                  <a:srgbClr val="00A7B5"/>
                </a:solidFill>
              </a:defRPr>
            </a:pPr>
            <a:r>
              <a:rPr sz="3150" b="1">
                <a:solidFill>
                  <a:srgbClr val="00A7B5"/>
                </a:solidFill>
              </a:rPr>
              <a:t>1,70 мм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CE22E6-5241-4C7C-A3E6-2987CDCE593C}"/>
              </a:ext>
            </a:extLst>
          </p:cNvPr>
          <p:cNvSpPr>
            <a:spLocks noGrp="1"/>
          </p:cNvSpPr>
          <p:nvPr/>
        </p:nvSpPr>
        <p:spPr>
          <a:xfrm>
            <a:off x="695325" y="26193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диаметр сопла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B570B65-E45A-4771-9B38-F7FDC16BC6D4}"/>
              </a:ext>
            </a:extLst>
          </p:cNvPr>
          <p:cNvSpPr>
            <a:spLocks noGrp="1"/>
          </p:cNvSpPr>
          <p:nvPr/>
        </p:nvSpPr>
        <p:spPr>
          <a:xfrm>
            <a:off x="3000375" y="20002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F39C4A"/>
                </a:solidFill>
              </a:defRPr>
            </a:defPPr>
          </a:lstStyle>
          <a:p>
            <a:pPr algn="l">
              <a:defRPr sz="3150" b="1">
                <a:solidFill>
                  <a:srgbClr val="F39C4A"/>
                </a:solidFill>
              </a:defRPr>
            </a:pPr>
            <a:r>
              <a:rPr sz="3150" b="1">
                <a:solidFill>
                  <a:srgbClr val="F39C4A"/>
                </a:solidFill>
              </a:rPr>
              <a:t>16,59 л/мин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503D9E-AB8E-4D4A-BAC9-D40D0E1480C2}"/>
              </a:ext>
            </a:extLst>
          </p:cNvPr>
          <p:cNvSpPr>
            <a:spLocks noGrp="1"/>
          </p:cNvSpPr>
          <p:nvPr/>
        </p:nvSpPr>
        <p:spPr>
          <a:xfrm>
            <a:off x="3028950" y="26193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расход масла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F9DA6E-BB9F-4CCB-9991-65916433964D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2E8B74"/>
                </a:solidFill>
              </a:defRPr>
            </a:defPPr>
          </a:lstStyle>
          <a:p>
            <a:pPr algn="l">
              <a:defRPr sz="3150" b="1">
                <a:solidFill>
                  <a:srgbClr val="2E8B74"/>
                </a:solidFill>
              </a:defRPr>
            </a:pPr>
            <a:r>
              <a:rPr sz="3150" b="1">
                <a:solidFill>
                  <a:srgbClr val="2E8B74"/>
                </a:solidFill>
              </a:rPr>
              <a:t>15 °C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408CD8-0F8D-43F9-9B52-21EC2911AA79}"/>
              </a:ext>
            </a:extLst>
          </p:cNvPr>
          <p:cNvSpPr>
            <a:spLocks noGrp="1"/>
          </p:cNvSpPr>
          <p:nvPr/>
        </p:nvSpPr>
        <p:spPr>
          <a:xfrm>
            <a:off x="695325" y="38766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температура на входе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64C8FEA-29F7-4C19-8565-D8CDF268B334}"/>
              </a:ext>
            </a:extLst>
          </p:cNvPr>
          <p:cNvSpPr>
            <a:spLocks noGrp="1"/>
          </p:cNvSpPr>
          <p:nvPr/>
        </p:nvSpPr>
        <p:spPr>
          <a:xfrm>
            <a:off x="3000375" y="32575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B54845"/>
                </a:solidFill>
              </a:defRPr>
            </a:defPPr>
          </a:lstStyle>
          <a:p>
            <a:pPr algn="l">
              <a:defRPr sz="3150" b="1">
                <a:solidFill>
                  <a:srgbClr val="B54845"/>
                </a:solidFill>
              </a:defRPr>
            </a:pPr>
            <a:r>
              <a:rPr sz="3150" b="1">
                <a:solidFill>
                  <a:srgbClr val="B54845"/>
                </a:solidFill>
              </a:rPr>
              <a:t>20 Вт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7C9DBC-1297-4169-A4A1-36B1B8BCE5A2}"/>
              </a:ext>
            </a:extLst>
          </p:cNvPr>
          <p:cNvSpPr>
            <a:spLocks noGrp="1"/>
          </p:cNvSpPr>
          <p:nvPr/>
        </p:nvSpPr>
        <p:spPr>
          <a:xfrm>
            <a:off x="3028950" y="38766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идеальная мощность насоса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BA8D7B0-82F4-4346-88DA-3554A97AA519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4810125" cy="1190625"/>
          </a:xfrm>
          <a:prstGeom prst="roundRect">
            <a:avLst>
              <a:gd name="adj" fmla="val 9600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ABDB9C6-5307-49EE-872F-E850A90FF2E0}"/>
              </a:ext>
            </a:extLst>
          </p:cNvPr>
          <p:cNvSpPr>
            <a:spLocks noGrp="1"/>
          </p:cNvSpPr>
          <p:nvPr/>
        </p:nvSpPr>
        <p:spPr>
          <a:xfrm>
            <a:off x="904875" y="47434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00A7B5"/>
                </a:solidFill>
              </a:defRPr>
            </a:defPPr>
          </a:lstStyle>
          <a:p>
            <a:pPr algn="l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Расчётные температуры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02FF98-BA2E-4621-B76F-128CFAC360C7}"/>
              </a:ext>
            </a:extLst>
          </p:cNvPr>
          <p:cNvSpPr>
            <a:spLocks noGrp="1"/>
          </p:cNvSpPr>
          <p:nvPr/>
        </p:nvSpPr>
        <p:spPr>
          <a:xfrm>
            <a:off x="904875" y="504825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статор 107,5 °C    обмотка 109,8 °C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корпус 65,0 °C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16284F6-ECEF-4BC6-BC4A-DA1B7EB9ACE6}"/>
              </a:ext>
            </a:extLst>
          </p:cNvPr>
          <p:cNvSpPr>
            <a:spLocks noGrp="1"/>
          </p:cNvSpPr>
          <p:nvPr/>
        </p:nvSpPr>
        <p:spPr>
          <a:xfrm>
            <a:off x="6000750" y="1495425"/>
            <a:ext cx="5429250" cy="4333875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9C5973-125D-4E2D-AB45-585E384B08CC}"/>
              </a:ext>
            </a:extLst>
          </p:cNvPr>
          <p:cNvSpPr>
            <a:spLocks noGrp="1"/>
          </p:cNvSpPr>
          <p:nvPr/>
        </p:nvSpPr>
        <p:spPr>
          <a:xfrm>
            <a:off x="6334125" y="17335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2E8B74"/>
                </a:solidFill>
              </a:defRPr>
            </a:defPPr>
          </a:lstStyle>
          <a:p>
            <a:pPr algn="l"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Что подтверждено экспериментом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2FAF5FF-6CB6-40E0-86DC-F4BC1E39CAEA}"/>
              </a:ext>
            </a:extLst>
          </p:cNvPr>
          <p:cNvSpPr>
            <a:spLocks noGrp="1"/>
          </p:cNvSpPr>
          <p:nvPr/>
        </p:nvSpPr>
        <p:spPr>
          <a:xfrm>
            <a:off x="6334125" y="21717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2E8B74"/>
                </a:solidFill>
              </a:defRPr>
            </a:defPPr>
          </a:lstStyle>
          <a:p>
            <a:pPr algn="l">
              <a:defRPr sz="2550" b="1">
                <a:solidFill>
                  <a:srgbClr val="2E8B74"/>
                </a:solidFill>
              </a:defRPr>
            </a:pPr>
            <a:r>
              <a:rPr sz="2550" b="1">
                <a:solidFill>
                  <a:srgbClr val="2E8B74"/>
                </a:solidFill>
              </a:rPr>
              <a:t>0,37 К и 0,50 К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68561E9-FAB1-40BA-BD97-5CF17852443E}"/>
              </a:ext>
            </a:extLst>
          </p:cNvPr>
          <p:cNvSpPr>
            <a:spLocks noGrp="1"/>
          </p:cNvSpPr>
          <p:nvPr/>
        </p:nvSpPr>
        <p:spPr>
          <a:xfrm>
            <a:off x="6334125" y="2619375"/>
            <a:ext cx="4524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13" b="0">
                <a:solidFill>
                  <a:srgbClr val="172033"/>
                </a:solidFill>
              </a:defRPr>
            </a:defPPr>
          </a:lstStyle>
          <a:p>
            <a:pPr algn="l">
              <a:defRPr sz="1313" b="0">
                <a:solidFill>
                  <a:srgbClr val="172033"/>
                </a:solidFill>
              </a:defRPr>
            </a:pPr>
            <a:r>
              <a:rPr sz="1313" b="0">
                <a:solidFill>
                  <a:srgbClr val="172033"/>
                </a:solidFill>
              </a:rPr>
              <a:t>различия между CFD и измерением локальной температуры обмотки в двух режимах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5FCD9FB-2CF0-4282-A04F-B68E9FF198BA}"/>
              </a:ext>
            </a:extLst>
          </p:cNvPr>
          <p:cNvSpPr>
            <a:spLocks noGrp="1"/>
          </p:cNvSpPr>
          <p:nvPr/>
        </p:nvSpPr>
        <p:spPr>
          <a:xfrm>
            <a:off x="6334125" y="34766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B54845"/>
                </a:solidFill>
              </a:defRPr>
            </a:defPPr>
          </a:lstStyle>
          <a:p>
            <a:pPr algn="l">
              <a:defRPr sz="1500" b="1">
                <a:solidFill>
                  <a:srgbClr val="B54845"/>
                </a:solidFill>
              </a:defRPr>
            </a:pPr>
            <a:r>
              <a:rPr sz="1500" b="1">
                <a:solidFill>
                  <a:srgbClr val="B54845"/>
                </a:solidFill>
              </a:rPr>
              <a:t>Что остаётся расчётным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396298-AADE-45B9-9CB0-E7DE0065B29B}"/>
              </a:ext>
            </a:extLst>
          </p:cNvPr>
          <p:cNvSpPr>
            <a:spLocks noGrp="1"/>
          </p:cNvSpPr>
          <p:nvPr/>
        </p:nvSpPr>
        <p:spPr>
          <a:xfrm>
            <a:off x="6381750" y="3876675"/>
            <a:ext cx="19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B54845"/>
                </a:solidFill>
              </a:defRPr>
            </a:defPPr>
          </a:lstStyle>
          <a:p>
            <a:pPr algn="l">
              <a:defRPr sz="1350" b="1">
                <a:solidFill>
                  <a:srgbClr val="B54845"/>
                </a:solidFill>
              </a:defRPr>
            </a:pPr>
            <a:r>
              <a:rPr sz="1350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292CC54-C602-4239-819A-FC51B6A2E8DA}"/>
              </a:ext>
            </a:extLst>
          </p:cNvPr>
          <p:cNvSpPr>
            <a:spLocks noGrp="1"/>
          </p:cNvSpPr>
          <p:nvPr/>
        </p:nvSpPr>
        <p:spPr>
          <a:xfrm>
            <a:off x="6629400" y="38385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максимальные температуры компонентов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CB5EE8F-A6D0-4017-A342-77771F3EE7AF}"/>
              </a:ext>
            </a:extLst>
          </p:cNvPr>
          <p:cNvSpPr>
            <a:spLocks noGrp="1"/>
          </p:cNvSpPr>
          <p:nvPr/>
        </p:nvSpPr>
        <p:spPr>
          <a:xfrm>
            <a:off x="6381750" y="4276725"/>
            <a:ext cx="19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B54845"/>
                </a:solidFill>
              </a:defRPr>
            </a:defPPr>
          </a:lstStyle>
          <a:p>
            <a:pPr algn="l">
              <a:defRPr sz="1350" b="1">
                <a:solidFill>
                  <a:srgbClr val="B54845"/>
                </a:solidFill>
              </a:defRPr>
            </a:pPr>
            <a:r>
              <a:rPr sz="1350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85DDA30-42DC-4AF1-8CBD-529B4671DDBC}"/>
              </a:ext>
            </a:extLst>
          </p:cNvPr>
          <p:cNvSpPr>
            <a:spLocks noGrp="1"/>
          </p:cNvSpPr>
          <p:nvPr/>
        </p:nvSpPr>
        <p:spPr>
          <a:xfrm>
            <a:off x="6629400" y="42386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перепад давления и распределение потоков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9B3F63E-9637-491F-BCD4-9D270839740F}"/>
              </a:ext>
            </a:extLst>
          </p:cNvPr>
          <p:cNvSpPr>
            <a:spLocks noGrp="1"/>
          </p:cNvSpPr>
          <p:nvPr/>
        </p:nvSpPr>
        <p:spPr>
          <a:xfrm>
            <a:off x="6381750" y="4676775"/>
            <a:ext cx="19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B54845"/>
                </a:solidFill>
              </a:defRPr>
            </a:defPPr>
          </a:lstStyle>
          <a:p>
            <a:pPr algn="l">
              <a:defRPr sz="1350" b="1">
                <a:solidFill>
                  <a:srgbClr val="B54845"/>
                </a:solidFill>
              </a:defRPr>
            </a:pPr>
            <a:r>
              <a:rPr sz="1350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672DA11-CC0D-41D6-A18C-D6571040D1FA}"/>
              </a:ext>
            </a:extLst>
          </p:cNvPr>
          <p:cNvSpPr>
            <a:spLocks noGrp="1"/>
          </p:cNvSpPr>
          <p:nvPr/>
        </p:nvSpPr>
        <p:spPr>
          <a:xfrm>
            <a:off x="6629400" y="46386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идеальная мощность насоса и снижение на 31%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8C2372E-A3F1-4505-A1D8-73B87C2F765B}"/>
              </a:ext>
            </a:extLst>
          </p:cNvPr>
          <p:cNvSpPr>
            <a:spLocks noGrp="1"/>
          </p:cNvSpPr>
          <p:nvPr/>
        </p:nvSpPr>
        <p:spPr>
          <a:xfrm>
            <a:off x="6381750" y="5076825"/>
            <a:ext cx="19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B54845"/>
                </a:solidFill>
              </a:defRPr>
            </a:defPPr>
          </a:lstStyle>
          <a:p>
            <a:pPr algn="l">
              <a:defRPr sz="1350" b="1">
                <a:solidFill>
                  <a:srgbClr val="B54845"/>
                </a:solidFill>
              </a:defRPr>
            </a:pPr>
            <a:r>
              <a:rPr sz="1350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6D4E75F-CE69-4592-B7D6-2D0DECEE13F6}"/>
              </a:ext>
            </a:extLst>
          </p:cNvPr>
          <p:cNvSpPr>
            <a:spLocks noGrp="1"/>
          </p:cNvSpPr>
          <p:nvPr/>
        </p:nvSpPr>
        <p:spPr>
          <a:xfrm>
            <a:off x="6629400" y="50387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полное энергопотребление с учётом чиллера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01606CF-3433-407F-BC5E-4AB1FE08634A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2233F"/>
                </a:solidFill>
              </a:defRPr>
            </a:defPPr>
          </a:lstStyle>
          <a:p>
            <a:pPr algn="ctr">
              <a:defRPr sz="1425" b="1">
                <a:solidFill>
                  <a:srgbClr val="12233F"/>
                </a:solidFill>
              </a:defRPr>
            </a:pPr>
            <a:r>
              <a:rPr sz="1425" b="1">
                <a:solidFill>
                  <a:srgbClr val="12233F"/>
                </a:solidFill>
              </a:rPr>
              <a:t>Новизна инженерная: оптимизация естественного распределения масла между двумя ветвями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9BA55EC-C491-46A1-9B4D-9633CFFFF6EC}"/>
              </a:ext>
            </a:extLst>
          </p:cNvPr>
          <p:cNvSpPr>
            <a:spLocks noGrp="1"/>
          </p:cNvSpPr>
          <p:nvPr/>
        </p:nvSpPr>
        <p:spPr>
          <a:xfrm>
            <a:off x="628650" y="6524625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Electronics 2026, 15, 4556. DOI 10.3390/electronics15194556</a:t>
            </a:r>
          </a:p>
        </p:txBody>
      </p:sp>
    </p:spTree>
    <p:extLst>
      <p:ext uri="{BB962C8B-B14F-4D97-AF65-F5344CB8AC3E}">
        <p14:creationId xmlns:p14="http://schemas.microsoft.com/office/powerpoint/2010/main" val="25224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16AAEB-12E9-406E-B7DB-7A79EB501E40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en-US" sz="2400" b="1" dirty="0">
                <a:solidFill>
                  <a:srgbClr val="12233F"/>
                </a:solidFill>
              </a:rPr>
              <a:t>7. </a:t>
            </a:r>
            <a:r>
              <a:rPr sz="2400" b="1" dirty="0" err="1">
                <a:solidFill>
                  <a:srgbClr val="12233F"/>
                </a:solidFill>
              </a:rPr>
              <a:t>Оценка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начального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положения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ротора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менее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чем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за</a:t>
            </a:r>
            <a:r>
              <a:rPr sz="2400" b="1" dirty="0">
                <a:solidFill>
                  <a:srgbClr val="12233F"/>
                </a:solidFill>
              </a:rPr>
              <a:t> 1 </a:t>
            </a:r>
            <a:r>
              <a:rPr sz="2400" b="1" dirty="0" err="1">
                <a:solidFill>
                  <a:srgbClr val="12233F"/>
                </a:solidFill>
              </a:rPr>
              <a:t>мс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225756-1F51-4DED-AEEE-E36D1C9F49F7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D0C024-65CB-4FB2-AF4D-B2C341B84D5D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0">
                <a:solidFill>
                  <a:srgbClr val="5D687A"/>
                </a:solidFill>
              </a:defRPr>
            </a:defPPr>
          </a:lstStyle>
          <a:p>
            <a:pPr algn="ctr">
              <a:defRPr sz="1500" b="0">
                <a:solidFill>
                  <a:srgbClr val="5D687A"/>
                </a:solidFill>
              </a:defRPr>
            </a:pPr>
            <a:r>
              <a:rPr sz="1500" b="0">
                <a:solidFill>
                  <a:srgbClr val="5D687A"/>
                </a:solidFill>
              </a:rPr>
              <a:t>Две шеститактные последовательности создают большой токовый отклик при минимальном числе переключений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EEBD5B-5E2C-48E7-A240-A91F519D5251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A7B5"/>
                </a:solidFill>
              </a:defRPr>
            </a:defPPr>
          </a:lstStyle>
          <a:p>
            <a:pPr algn="ctr">
              <a:defRPr sz="1050" b="1">
                <a:solidFill>
                  <a:srgbClr val="00A7B5"/>
                </a:solidFill>
              </a:defRPr>
            </a:pPr>
            <a:r>
              <a:rPr sz="1050" b="1">
                <a:solidFill>
                  <a:srgbClr val="00A7B5"/>
                </a:solidFill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E48FFE9-D8B3-4A9F-A1B5-819695082A9C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1838325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370AC0-A9A8-4509-8EF4-40429BF0ECD8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Инжекция 0°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BE3D154-12EF-4E0A-92AB-1DCE905C0408}"/>
              </a:ext>
            </a:extLst>
          </p:cNvPr>
          <p:cNvSpPr>
            <a:spLocks noGrp="1"/>
          </p:cNvSpPr>
          <p:nvPr/>
        </p:nvSpPr>
        <p:spPr>
          <a:xfrm>
            <a:off x="666750" y="2886075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Шесть активных векторов</a:t>
            </a:r>
          </a:p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за 300 мкс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03067AB-842E-48EB-B4A0-19BCAD254A74}"/>
              </a:ext>
            </a:extLst>
          </p:cNvPr>
          <p:cNvSpPr>
            <a:spLocks noGrp="1"/>
          </p:cNvSpPr>
          <p:nvPr/>
        </p:nvSpPr>
        <p:spPr>
          <a:xfrm>
            <a:off x="3190875" y="21431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F39C4A"/>
                </a:solidFill>
              </a:defRPr>
            </a:defPPr>
          </a:lstStyle>
          <a:p>
            <a:pPr algn="ctr">
              <a:defRPr sz="1050" b="1">
                <a:solidFill>
                  <a:srgbClr val="F39C4A"/>
                </a:solidFill>
              </a:defRPr>
            </a:pPr>
            <a:r>
              <a:rPr sz="1050" b="1">
                <a:solidFill>
                  <a:srgbClr val="F39C4A"/>
                </a:solidFill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F67C447-F316-43F2-A111-3D00AC2D7E21}"/>
              </a:ext>
            </a:extLst>
          </p:cNvPr>
          <p:cNvSpPr>
            <a:spLocks noGrp="1"/>
          </p:cNvSpPr>
          <p:nvPr/>
        </p:nvSpPr>
        <p:spPr>
          <a:xfrm>
            <a:off x="3590925" y="2266950"/>
            <a:ext cx="1838325" cy="28575"/>
          </a:xfrm>
          <a:prstGeom prst="rect">
            <a:avLst/>
          </a:prstGeom>
          <a:solidFill>
            <a:srgbClr val="F39C4A"/>
          </a:solidFill>
          <a:ln w="0">
            <a:solidFill>
              <a:srgbClr val="F39C4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99C1FDA-DF7D-49A1-BD8E-DC343B3A405A}"/>
              </a:ext>
            </a:extLst>
          </p:cNvPr>
          <p:cNvSpPr>
            <a:spLocks noGrp="1"/>
          </p:cNvSpPr>
          <p:nvPr/>
        </p:nvSpPr>
        <p:spPr>
          <a:xfrm>
            <a:off x="3190875" y="25146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Короткое замыкание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BA5A97-31A9-4E8C-96EB-1CD24F8C0446}"/>
              </a:ext>
            </a:extLst>
          </p:cNvPr>
          <p:cNvSpPr>
            <a:spLocks noGrp="1"/>
          </p:cNvSpPr>
          <p:nvPr/>
        </p:nvSpPr>
        <p:spPr>
          <a:xfrm>
            <a:off x="3190875" y="2886075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Активное short circuit</a:t>
            </a:r>
          </a:p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в течение 100 мкс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DC0618-0BAA-429C-99EA-31E34C87E759}"/>
              </a:ext>
            </a:extLst>
          </p:cNvPr>
          <p:cNvSpPr>
            <a:spLocks noGrp="1"/>
          </p:cNvSpPr>
          <p:nvPr/>
        </p:nvSpPr>
        <p:spPr>
          <a:xfrm>
            <a:off x="5715000" y="21431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A7B5"/>
                </a:solidFill>
              </a:defRPr>
            </a:defPPr>
          </a:lstStyle>
          <a:p>
            <a:pPr algn="ctr">
              <a:defRPr sz="1050" b="1">
                <a:solidFill>
                  <a:srgbClr val="00A7B5"/>
                </a:solidFill>
              </a:defRPr>
            </a:pPr>
            <a:r>
              <a:rPr sz="1050" b="1">
                <a:solidFill>
                  <a:srgbClr val="00A7B5"/>
                </a:solidFill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546C37C-EF06-4640-8EDB-8C22F2FEAF23}"/>
              </a:ext>
            </a:extLst>
          </p:cNvPr>
          <p:cNvSpPr>
            <a:spLocks noGrp="1"/>
          </p:cNvSpPr>
          <p:nvPr/>
        </p:nvSpPr>
        <p:spPr>
          <a:xfrm>
            <a:off x="6115050" y="2266950"/>
            <a:ext cx="1838325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80A49D0-E3E9-406D-8FCA-CC2205D6A3FA}"/>
              </a:ext>
            </a:extLst>
          </p:cNvPr>
          <p:cNvSpPr>
            <a:spLocks noGrp="1"/>
          </p:cNvSpPr>
          <p:nvPr/>
        </p:nvSpPr>
        <p:spPr>
          <a:xfrm>
            <a:off x="5715000" y="25146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Инжекция 120°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422DE84-C0C9-4545-849B-4E2E0E73E900}"/>
              </a:ext>
            </a:extLst>
          </p:cNvPr>
          <p:cNvSpPr>
            <a:spLocks noGrp="1"/>
          </p:cNvSpPr>
          <p:nvPr/>
        </p:nvSpPr>
        <p:spPr>
          <a:xfrm>
            <a:off x="5715000" y="2886075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Вторая последовательность</a:t>
            </a:r>
          </a:p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за 300 мкс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D57C8AF-1F98-45EA-8016-3442ABB098B3}"/>
              </a:ext>
            </a:extLst>
          </p:cNvPr>
          <p:cNvSpPr>
            <a:spLocks noGrp="1"/>
          </p:cNvSpPr>
          <p:nvPr/>
        </p:nvSpPr>
        <p:spPr>
          <a:xfrm>
            <a:off x="8239125" y="21431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2E8B74"/>
                </a:solidFill>
              </a:defRPr>
            </a:defPPr>
          </a:lstStyle>
          <a:p>
            <a:pPr algn="ctr">
              <a:defRPr sz="1050" b="1">
                <a:solidFill>
                  <a:srgbClr val="2E8B74"/>
                </a:solidFill>
              </a:defRPr>
            </a:pPr>
            <a:r>
              <a:rPr sz="1050" b="1">
                <a:solidFill>
                  <a:srgbClr val="2E8B74"/>
                </a:solidFill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BA170BC-A536-47F6-8857-04882F693F70}"/>
              </a:ext>
            </a:extLst>
          </p:cNvPr>
          <p:cNvSpPr>
            <a:spLocks noGrp="1"/>
          </p:cNvSpPr>
          <p:nvPr/>
        </p:nvSpPr>
        <p:spPr>
          <a:xfrm>
            <a:off x="8639175" y="2266950"/>
            <a:ext cx="2600325" cy="28575"/>
          </a:xfrm>
          <a:prstGeom prst="rect">
            <a:avLst/>
          </a:prstGeom>
          <a:solidFill>
            <a:srgbClr val="2E8B74"/>
          </a:solidFill>
          <a:ln w="0">
            <a:solidFill>
              <a:srgbClr val="2E8B74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4BC7C46-22AD-430F-A12B-5D8299EC5287}"/>
              </a:ext>
            </a:extLst>
          </p:cNvPr>
          <p:cNvSpPr>
            <a:spLocks noGrp="1"/>
          </p:cNvSpPr>
          <p:nvPr/>
        </p:nvSpPr>
        <p:spPr>
          <a:xfrm>
            <a:off x="8239125" y="2514600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2233F"/>
                </a:solidFill>
              </a:defRPr>
            </a:defPPr>
          </a:lstStyle>
          <a:p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Минимизация функции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2E11875-7547-4F11-A945-9546727A2881}"/>
              </a:ext>
            </a:extLst>
          </p:cNvPr>
          <p:cNvSpPr>
            <a:spLocks noGrp="1"/>
          </p:cNvSpPr>
          <p:nvPr/>
        </p:nvSpPr>
        <p:spPr>
          <a:xfrm>
            <a:off x="8239125" y="2886075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38" b="0">
                <a:solidFill>
                  <a:srgbClr val="172033"/>
                </a:solidFill>
              </a:defRPr>
            </a:defPPr>
          </a:lstStyle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Два старта со сдвигом 180°</a:t>
            </a:r>
          </a:p>
          <a:p>
            <a:pPr algn="l">
              <a:defRPr sz="1238" b="0">
                <a:solidFill>
                  <a:srgbClr val="172033"/>
                </a:solidFill>
              </a:defRPr>
            </a:pPr>
            <a:r>
              <a:rPr sz="1238" b="0">
                <a:solidFill>
                  <a:srgbClr val="172033"/>
                </a:solidFill>
              </a:rPr>
              <a:t>и выбор меньшей стоимости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A5E12E5-CBBE-47EA-9E05-DC162803F6F8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6572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CE7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918E94B-CFF2-4FAE-8736-ECC6F79846E4}"/>
              </a:ext>
            </a:extLst>
          </p:cNvPr>
          <p:cNvSpPr>
            <a:spLocks noGrp="1"/>
          </p:cNvSpPr>
          <p:nvPr/>
        </p:nvSpPr>
        <p:spPr>
          <a:xfrm>
            <a:off x="952500" y="4352925"/>
            <a:ext cx="600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12233F"/>
                </a:solidFill>
              </a:defRPr>
            </a:defPPr>
          </a:lstStyle>
          <a:p>
            <a:pPr algn="ctr">
              <a:defRPr sz="2100" b="1">
                <a:solidFill>
                  <a:srgbClr val="12233F"/>
                </a:solidFill>
              </a:defRPr>
            </a:pPr>
            <a:r>
              <a:rPr sz="2100" b="1">
                <a:solidFill>
                  <a:srgbClr val="12233F"/>
                </a:solidFill>
              </a:rPr>
              <a:t>J(θ) = Σ ‖iизмер − iLUT(θ)‖²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48D211-7052-49AA-9586-476A5F2C0689}"/>
              </a:ext>
            </a:extLst>
          </p:cNvPr>
          <p:cNvSpPr>
            <a:spLocks noGrp="1"/>
          </p:cNvSpPr>
          <p:nvPr/>
        </p:nvSpPr>
        <p:spPr>
          <a:xfrm>
            <a:off x="1000125" y="4905375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172033"/>
                </a:solidFill>
              </a:defRPr>
            </a:defPPr>
          </a:lstStyle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Измеренные токи сравниваются с таблицей откликов для кандидатов угла ротора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A5465D8-3A97-4D4B-B125-46C50096EEB2}"/>
              </a:ext>
            </a:extLst>
          </p:cNvPr>
          <p:cNvSpPr>
            <a:spLocks noGrp="1"/>
          </p:cNvSpPr>
          <p:nvPr/>
        </p:nvSpPr>
        <p:spPr>
          <a:xfrm>
            <a:off x="7572375" y="4143375"/>
            <a:ext cx="3667125" cy="142875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3087A81-92A4-498E-BA2B-DF4D219DF5C2}"/>
              </a:ext>
            </a:extLst>
          </p:cNvPr>
          <p:cNvSpPr>
            <a:spLocks noGrp="1"/>
          </p:cNvSpPr>
          <p:nvPr/>
        </p:nvSpPr>
        <p:spPr>
          <a:xfrm>
            <a:off x="7858125" y="4305300"/>
            <a:ext cx="3095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Насыщение делает один минимум глобальным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B2AC90A-3E2E-4BFD-8AFC-AD6C5D9F0C7A}"/>
              </a:ext>
            </a:extLst>
          </p:cNvPr>
          <p:cNvSpPr>
            <a:spLocks noGrp="1"/>
          </p:cNvSpPr>
          <p:nvPr/>
        </p:nvSpPr>
        <p:spPr>
          <a:xfrm>
            <a:off x="7858125" y="4905375"/>
            <a:ext cx="3095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A7B5"/>
                </a:solidFill>
              </a:defRPr>
            </a:defPPr>
          </a:lstStyle>
          <a:p>
            <a:pPr algn="ctr">
              <a:defRPr sz="1275" b="1">
                <a:solidFill>
                  <a:srgbClr val="00A7B5"/>
                </a:solidFill>
              </a:defRPr>
            </a:pPr>
            <a:r>
              <a:rPr sz="1275" b="1">
                <a:solidFill>
                  <a:srgbClr val="00A7B5"/>
                </a:solidFill>
              </a:rPr>
              <a:t>Полярность определяется без отдельного диагностического импульса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AE9B02B-C6CF-4C1E-A4E5-2786D11464B4}"/>
              </a:ext>
            </a:extLst>
          </p:cNvPr>
          <p:cNvSpPr>
            <a:spLocks noGrp="1"/>
          </p:cNvSpPr>
          <p:nvPr/>
        </p:nvSpPr>
        <p:spPr>
          <a:xfrm>
            <a:off x="666750" y="5867400"/>
            <a:ext cx="1057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2233F"/>
                </a:solidFill>
              </a:defRPr>
            </a:defPPr>
          </a:lstStyle>
          <a:p>
            <a:pPr algn="ctr">
              <a:defRPr sz="1425" b="1">
                <a:solidFill>
                  <a:srgbClr val="12233F"/>
                </a:solidFill>
              </a:defRPr>
            </a:pPr>
            <a:r>
              <a:rPr sz="1425" b="1">
                <a:solidFill>
                  <a:srgbClr val="12233F"/>
                </a:solidFill>
              </a:rPr>
              <a:t>Ключевая новизна: фиксированные инжекции позволяют выполнять сбор данных и вычисление параллельно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AD0B1CA-9F96-46F2-8240-62186FF6F93A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Choi, Oh, Lee, IEEE JESTPE, 2026. DOI 10.1109/JESTPE.2026.3737259</a:t>
            </a:r>
          </a:p>
        </p:txBody>
      </p:sp>
    </p:spTree>
    <p:extLst>
      <p:ext uri="{BB962C8B-B14F-4D97-AF65-F5344CB8AC3E}">
        <p14:creationId xmlns:p14="http://schemas.microsoft.com/office/powerpoint/2010/main" val="154471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23C3E9-E5D3-4BC4-AFE7-D0153EF3B716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9347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2233F"/>
                </a:solidFill>
              </a:defRPr>
            </a:defPPr>
          </a:lstStyle>
          <a:p>
            <a:pPr algn="l">
              <a:defRPr sz="2400" b="1">
                <a:solidFill>
                  <a:srgbClr val="12233F"/>
                </a:solidFill>
              </a:defRPr>
            </a:pPr>
            <a:r>
              <a:rPr lang="en-US" sz="2400" b="1" dirty="0">
                <a:solidFill>
                  <a:srgbClr val="12233F"/>
                </a:solidFill>
              </a:rPr>
              <a:t>7. </a:t>
            </a:r>
            <a:r>
              <a:rPr sz="2400" b="1" dirty="0" err="1">
                <a:solidFill>
                  <a:srgbClr val="12233F"/>
                </a:solidFill>
              </a:rPr>
              <a:t>Экспериментальные</a:t>
            </a:r>
            <a:r>
              <a:rPr sz="2400" b="1" dirty="0">
                <a:solidFill>
                  <a:srgbClr val="12233F"/>
                </a:solidFill>
              </a:rPr>
              <a:t> </a:t>
            </a:r>
            <a:r>
              <a:rPr sz="2400" b="1" dirty="0" err="1">
                <a:solidFill>
                  <a:srgbClr val="12233F"/>
                </a:solidFill>
              </a:rPr>
              <a:t>результаты</a:t>
            </a:r>
            <a:r>
              <a:rPr sz="2400" b="1" dirty="0">
                <a:solidFill>
                  <a:srgbClr val="12233F"/>
                </a:solidFill>
              </a:rPr>
              <a:t> и </a:t>
            </a:r>
            <a:r>
              <a:rPr sz="2400" b="1" dirty="0" err="1">
                <a:solidFill>
                  <a:srgbClr val="12233F"/>
                </a:solidFill>
              </a:rPr>
              <a:t>применимость</a:t>
            </a:r>
            <a:endParaRPr sz="2400" b="1" dirty="0">
              <a:solidFill>
                <a:srgbClr val="12233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1C3137-7AD4-47E9-A34A-F52B8A09B957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10934700" cy="28575"/>
          </a:xfrm>
          <a:prstGeom prst="rect">
            <a:avLst/>
          </a:prstGeom>
          <a:solidFill>
            <a:srgbClr val="00A7B5"/>
          </a:solidFill>
          <a:ln w="0">
            <a:solidFill>
              <a:srgbClr val="00A7B5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CCBA95-ACC3-4845-8089-E3ED221B9E5B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00A7B5"/>
                </a:solidFill>
              </a:defRPr>
            </a:defPPr>
          </a:lstStyle>
          <a:p>
            <a:pPr algn="l">
              <a:defRPr sz="3600" b="1">
                <a:solidFill>
                  <a:srgbClr val="00A7B5"/>
                </a:solidFill>
              </a:defRPr>
            </a:pPr>
            <a:r>
              <a:rPr sz="3600" b="1">
                <a:solidFill>
                  <a:srgbClr val="00A7B5"/>
                </a:solidFill>
              </a:rPr>
              <a:t>950 мкс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7E9056-A0AD-4002-B75E-662CBA40A4D8}"/>
              </a:ext>
            </a:extLst>
          </p:cNvPr>
          <p:cNvSpPr>
            <a:spLocks noGrp="1"/>
          </p:cNvSpPr>
          <p:nvPr/>
        </p:nvSpPr>
        <p:spPr>
          <a:xfrm>
            <a:off x="695325" y="2266950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максимальное время оценки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27AB5BA-1F37-489E-BAAA-A4078C72FFA0}"/>
              </a:ext>
            </a:extLst>
          </p:cNvPr>
          <p:cNvSpPr>
            <a:spLocks noGrp="1"/>
          </p:cNvSpPr>
          <p:nvPr/>
        </p:nvSpPr>
        <p:spPr>
          <a:xfrm>
            <a:off x="3667125" y="1619250"/>
            <a:ext cx="2238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F39C4A"/>
                </a:solidFill>
              </a:defRPr>
            </a:defPPr>
          </a:lstStyle>
          <a:p>
            <a:pPr algn="l">
              <a:defRPr sz="3600" b="1">
                <a:solidFill>
                  <a:srgbClr val="F39C4A"/>
                </a:solidFill>
              </a:defRPr>
            </a:pPr>
            <a:r>
              <a:rPr sz="3600" b="1">
                <a:solidFill>
                  <a:srgbClr val="F39C4A"/>
                </a:solidFill>
              </a:rPr>
              <a:t>≤ 4°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B95C27-EB99-4032-9BFB-3C22CAB0002F}"/>
              </a:ext>
            </a:extLst>
          </p:cNvPr>
          <p:cNvSpPr>
            <a:spLocks noGrp="1"/>
          </p:cNvSpPr>
          <p:nvPr/>
        </p:nvSpPr>
        <p:spPr>
          <a:xfrm>
            <a:off x="3695700" y="226695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ошибка во всех испытаниях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D288CC-CCC0-4F7B-BEB9-B40FE489C6D2}"/>
              </a:ext>
            </a:extLst>
          </p:cNvPr>
          <p:cNvSpPr>
            <a:spLocks noGrp="1"/>
          </p:cNvSpPr>
          <p:nvPr/>
        </p:nvSpPr>
        <p:spPr>
          <a:xfrm>
            <a:off x="6524625" y="16192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2E8B74"/>
                </a:solidFill>
              </a:defRPr>
            </a:defPPr>
          </a:lstStyle>
          <a:p>
            <a:pPr algn="l">
              <a:defRPr sz="3600" b="1">
                <a:solidFill>
                  <a:srgbClr val="2E8B74"/>
                </a:solidFill>
              </a:defRPr>
            </a:pPr>
            <a:r>
              <a:rPr sz="3600" b="1">
                <a:solidFill>
                  <a:srgbClr val="2E8B74"/>
                </a:solidFill>
              </a:rPr>
              <a:t>100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EFD57F-849F-4CC2-BB80-C3D258DBE27F}"/>
              </a:ext>
            </a:extLst>
          </p:cNvPr>
          <p:cNvSpPr>
            <a:spLocks noGrp="1"/>
          </p:cNvSpPr>
          <p:nvPr/>
        </p:nvSpPr>
        <p:spPr>
          <a:xfrm>
            <a:off x="6553200" y="22669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случайных начальных углов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7A904F-FAAA-4D1A-A66A-B5281B958876}"/>
              </a:ext>
            </a:extLst>
          </p:cNvPr>
          <p:cNvSpPr>
            <a:spLocks noGrp="1"/>
          </p:cNvSpPr>
          <p:nvPr/>
        </p:nvSpPr>
        <p:spPr>
          <a:xfrm>
            <a:off x="9286875" y="1619250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12233F"/>
                </a:solidFill>
              </a:defRPr>
            </a:defPPr>
          </a:lstStyle>
          <a:p>
            <a:pPr algn="l">
              <a:defRPr sz="3600" b="1">
                <a:solidFill>
                  <a:srgbClr val="12233F"/>
                </a:solidFill>
              </a:defRPr>
            </a:pPr>
            <a:r>
              <a:rPr sz="3600" b="1">
                <a:solidFill>
                  <a:srgbClr val="12233F"/>
                </a:solidFill>
              </a:rPr>
              <a:t>300 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2162B1C-2890-4BC7-A531-B767EA8155C5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172033"/>
                </a:solidFill>
              </a:defRPr>
            </a:defPPr>
          </a:lstStyle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на звене постоянного тока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7613A0B-F4FE-46DB-9173-FC5CDD67C42C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572750" cy="19050"/>
          </a:xfrm>
          <a:prstGeom prst="rect">
            <a:avLst/>
          </a:prstGeom>
          <a:solidFill>
            <a:srgbClr val="D4DCE7"/>
          </a:solidFill>
          <a:ln w="0">
            <a:solidFill>
              <a:srgbClr val="D4DCE7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359573-9C6B-4310-9682-04A05D7A8793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E8B74"/>
                </a:solidFill>
              </a:defRPr>
            </a:defPPr>
          </a:lstStyle>
          <a:p>
            <a:pPr algn="l">
              <a:defRPr sz="1725" b="1">
                <a:solidFill>
                  <a:srgbClr val="2E8B74"/>
                </a:solidFill>
              </a:defRPr>
            </a:pPr>
            <a:r>
              <a:rPr sz="1725" b="1">
                <a:solidFill>
                  <a:srgbClr val="2E8B74"/>
                </a:solidFill>
              </a:rPr>
              <a:t>Практическая польза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2FE7F2E-9C9A-4257-A1F2-F3AA9B0DC3CA}"/>
              </a:ext>
            </a:extLst>
          </p:cNvPr>
          <p:cNvSpPr>
            <a:spLocks noGrp="1"/>
          </p:cNvSpPr>
          <p:nvPr/>
        </p:nvSpPr>
        <p:spPr>
          <a:xfrm>
            <a:off x="714375" y="36385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8B74"/>
                </a:solidFill>
              </a:defRPr>
            </a:defPPr>
          </a:lstStyle>
          <a:p>
            <a:pPr algn="l"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E424FE4-E738-48B9-BFCD-3506BB36D991}"/>
              </a:ext>
            </a:extLst>
          </p:cNvPr>
          <p:cNvSpPr>
            <a:spLocks noGrp="1"/>
          </p:cNvSpPr>
          <p:nvPr/>
        </p:nvSpPr>
        <p:spPr>
          <a:xfrm>
            <a:off x="1028700" y="3609975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быстрый и безопасный запуск без датчика положения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7207DFB-2BAB-4F8C-B1E2-F02220228BB1}"/>
              </a:ext>
            </a:extLst>
          </p:cNvPr>
          <p:cNvSpPr>
            <a:spLocks noGrp="1"/>
          </p:cNvSpPr>
          <p:nvPr/>
        </p:nvSpPr>
        <p:spPr>
          <a:xfrm>
            <a:off x="714375" y="416242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8B74"/>
                </a:solidFill>
              </a:defRPr>
            </a:defPPr>
          </a:lstStyle>
          <a:p>
            <a:pPr algn="l"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7202C88-BB3F-4154-8101-6905A1742BE1}"/>
              </a:ext>
            </a:extLst>
          </p:cNvPr>
          <p:cNvSpPr>
            <a:spLocks noGrp="1"/>
          </p:cNvSpPr>
          <p:nvPr/>
        </p:nvSpPr>
        <p:spPr>
          <a:xfrm>
            <a:off x="1028700" y="413385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проверка смещения энкодера или резольвера при включении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0D88A56-3B7F-41C1-B86D-A7B8AD570E45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2E8B74"/>
                </a:solidFill>
              </a:defRPr>
            </a:defPPr>
          </a:lstStyle>
          <a:p>
            <a:pPr algn="l"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✓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86B04B-632A-43AE-AC66-F6D7D212BD08}"/>
              </a:ext>
            </a:extLst>
          </p:cNvPr>
          <p:cNvSpPr>
            <a:spLocks noGrp="1"/>
          </p:cNvSpPr>
          <p:nvPr/>
        </p:nvSpPr>
        <p:spPr>
          <a:xfrm>
            <a:off x="1028700" y="4657725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33"/>
                </a:solidFill>
              </a:defRPr>
            </a:defPPr>
          </a:lstStyle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отсутствие заметного движения ротора во время теста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D0298DD-657D-4197-BB07-C227439AD6E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B54845"/>
                </a:solidFill>
              </a:defRPr>
            </a:defPPr>
          </a:lstStyle>
          <a:p>
            <a:pPr algn="l">
              <a:defRPr sz="1725" b="1">
                <a:solidFill>
                  <a:srgbClr val="B54845"/>
                </a:solidFill>
              </a:defRPr>
            </a:pPr>
            <a:r>
              <a:rPr sz="1725" b="1">
                <a:solidFill>
                  <a:srgbClr val="B54845"/>
                </a:solidFill>
              </a:rPr>
              <a:t>Ограничения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945C09-0292-4433-9B20-D03971D09808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B54845"/>
                </a:solidFill>
              </a:defRPr>
            </a:defPPr>
          </a:lstStyle>
          <a:p>
            <a:pPr algn="l">
              <a:defRPr sz="1425" b="1">
                <a:solidFill>
                  <a:srgbClr val="B54845"/>
                </a:solidFill>
              </a:defRPr>
            </a:pPr>
            <a:r>
              <a:rPr sz="1425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FEF5977-06AD-4902-969B-C8CD8B4EABC9}"/>
              </a:ext>
            </a:extLst>
          </p:cNvPr>
          <p:cNvSpPr>
            <a:spLocks noGrp="1"/>
          </p:cNvSpPr>
          <p:nvPr/>
        </p:nvSpPr>
        <p:spPr>
          <a:xfrm>
            <a:off x="6581775" y="360045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нужна мотороспецифичная LUT, рассчитанная с шагом 10°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A93F833-6892-40AD-8BB4-9C57D622D7B8}"/>
              </a:ext>
            </a:extLst>
          </p:cNvPr>
          <p:cNvSpPr>
            <a:spLocks noGrp="1"/>
          </p:cNvSpPr>
          <p:nvPr/>
        </p:nvSpPr>
        <p:spPr>
          <a:xfrm>
            <a:off x="6334125" y="41148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B54845"/>
                </a:solidFill>
              </a:defRPr>
            </a:defPPr>
          </a:lstStyle>
          <a:p>
            <a:pPr algn="l">
              <a:defRPr sz="1425" b="1">
                <a:solidFill>
                  <a:srgbClr val="B54845"/>
                </a:solidFill>
              </a:defRPr>
            </a:pPr>
            <a:r>
              <a:rPr sz="1425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05AAAE2-5C09-4FC8-B618-82B5FB98391A}"/>
              </a:ext>
            </a:extLst>
          </p:cNvPr>
          <p:cNvSpPr>
            <a:spLocks noGrp="1"/>
          </p:cNvSpPr>
          <p:nvPr/>
        </p:nvSpPr>
        <p:spPr>
          <a:xfrm>
            <a:off x="6581775" y="40767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метод рассчитан на неподвижный IPMSM с выраженной салентностью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910CE1A-5231-4B1E-89B4-468F9B0931BF}"/>
              </a:ext>
            </a:extLst>
          </p:cNvPr>
          <p:cNvSpPr>
            <a:spLocks noGrp="1"/>
          </p:cNvSpPr>
          <p:nvPr/>
        </p:nvSpPr>
        <p:spPr>
          <a:xfrm>
            <a:off x="6334125" y="45910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B54845"/>
                </a:solidFill>
              </a:defRPr>
            </a:defPPr>
          </a:lstStyle>
          <a:p>
            <a:pPr algn="l">
              <a:defRPr sz="1425" b="1">
                <a:solidFill>
                  <a:srgbClr val="B54845"/>
                </a:solidFill>
              </a:defRPr>
            </a:pPr>
            <a:r>
              <a:rPr sz="1425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450BC81-2F22-46C5-B1B6-DD47D9E9A224}"/>
              </a:ext>
            </a:extLst>
          </p:cNvPr>
          <p:cNvSpPr>
            <a:spLocks noGrp="1"/>
          </p:cNvSpPr>
          <p:nvPr/>
        </p:nvSpPr>
        <p:spPr>
          <a:xfrm>
            <a:off x="6581775" y="455295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влияние температуры, шума датчиков и изменения DC-напряжения не исследовано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837749A-548F-4255-B975-E4A7A60D41CB}"/>
              </a:ext>
            </a:extLst>
          </p:cNvPr>
          <p:cNvSpPr>
            <a:spLocks noGrp="1"/>
          </p:cNvSpPr>
          <p:nvPr/>
        </p:nvSpPr>
        <p:spPr>
          <a:xfrm>
            <a:off x="6334125" y="506730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B54845"/>
                </a:solidFill>
              </a:defRPr>
            </a:defPPr>
          </a:lstStyle>
          <a:p>
            <a:pPr algn="l">
              <a:defRPr sz="1425" b="1">
                <a:solidFill>
                  <a:srgbClr val="B54845"/>
                </a:solidFill>
              </a:defRPr>
            </a:pPr>
            <a:r>
              <a:rPr sz="1425" b="1">
                <a:solidFill>
                  <a:srgbClr val="B54845"/>
                </a:solidFill>
              </a:rPr>
              <a:t>•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27EFB4C-C606-49A1-ACE9-E86E854A5383}"/>
              </a:ext>
            </a:extLst>
          </p:cNvPr>
          <p:cNvSpPr>
            <a:spLocks noGrp="1"/>
          </p:cNvSpPr>
          <p:nvPr/>
        </p:nvSpPr>
        <p:spPr>
          <a:xfrm>
            <a:off x="6581775" y="5029200"/>
            <a:ext cx="4619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33"/>
                </a:solidFill>
              </a:defRPr>
            </a:defPPr>
          </a:lstStyle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вычислительная нагрузка выше, чем у простых импульсных методов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990CC898-6D78-4ECF-8F23-A4F5F4D0AC77}"/>
              </a:ext>
            </a:extLst>
          </p:cNvPr>
          <p:cNvSpPr>
            <a:spLocks noGrp="1"/>
          </p:cNvSpPr>
          <p:nvPr/>
        </p:nvSpPr>
        <p:spPr>
          <a:xfrm>
            <a:off x="666750" y="5743575"/>
            <a:ext cx="10572750" cy="523875"/>
          </a:xfrm>
          <a:prstGeom prst="roundRect">
            <a:avLst>
              <a:gd name="adj" fmla="val 21818"/>
            </a:avLst>
          </a:prstGeom>
          <a:solidFill>
            <a:srgbClr val="12233F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321D-9912-4EEE-929A-20DC3E0AC212}"/>
              </a:ext>
            </a:extLst>
          </p:cNvPr>
          <p:cNvSpPr>
            <a:spLocks noGrp="1"/>
          </p:cNvSpPr>
          <p:nvPr/>
        </p:nvSpPr>
        <p:spPr>
          <a:xfrm>
            <a:off x="904875" y="5781675"/>
            <a:ext cx="1009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FFFFFF"/>
                </a:solidFill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Вывод: метод полезен и экспериментально убедителен, но требует калибровки под конкретный двигатель и инвертор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03E0CA2-D4A0-4DC4-A00B-052E5A518C67}"/>
              </a:ext>
            </a:extLst>
          </p:cNvPr>
          <p:cNvSpPr>
            <a:spLocks noGrp="1"/>
          </p:cNvSpPr>
          <p:nvPr/>
        </p:nvSpPr>
        <p:spPr>
          <a:xfrm>
            <a:off x="628650" y="651510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750" b="0">
                <a:solidFill>
                  <a:srgbClr val="5D687A"/>
                </a:solidFill>
              </a:defRPr>
            </a:defPPr>
          </a:lstStyle>
          <a:p>
            <a:pPr algn="l">
              <a:defRPr sz="750" b="0">
                <a:solidFill>
                  <a:srgbClr val="5D687A"/>
                </a:solidFill>
              </a:defRPr>
            </a:pPr>
            <a:r>
              <a:rPr sz="750" b="0">
                <a:solidFill>
                  <a:srgbClr val="5D687A"/>
                </a:solidFill>
              </a:rPr>
              <a:t>Источник: Choi, Oh, Lee, IEEE JESTPE, 2026. DOI 10.1109/JESTPE.2026.3737259</a:t>
            </a:r>
          </a:p>
        </p:txBody>
      </p:sp>
    </p:spTree>
    <p:extLst>
      <p:ext uri="{BB962C8B-B14F-4D97-AF65-F5344CB8AC3E}">
        <p14:creationId xmlns:p14="http://schemas.microsoft.com/office/powerpoint/2010/main" val="113885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24355FC-3996-4C46-ABA8-36350D5E1536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8. </a:t>
            </a:r>
            <a:r>
              <a:rPr sz="2850" b="1" dirty="0" err="1">
                <a:solidFill>
                  <a:srgbClr val="12233F"/>
                </a:solidFill>
              </a:rPr>
              <a:t>Иерархическое</a:t>
            </a:r>
            <a:r>
              <a:rPr sz="2850" b="1" dirty="0">
                <a:solidFill>
                  <a:srgbClr val="12233F"/>
                </a:solidFill>
              </a:rPr>
              <a:t> RL-</a:t>
            </a:r>
            <a:r>
              <a:rPr sz="2850" b="1" dirty="0" err="1">
                <a:solidFill>
                  <a:srgbClr val="12233F"/>
                </a:solidFill>
              </a:rPr>
              <a:t>управление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четырьмя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мотор-колёсами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5B0CEE-86C6-40C4-9771-B2308AD180C6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Liu et al., J Zhejiang Univ-Sci A, 2026. DOI: 10.1631/jzus.A2600076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C502A9-BCD8-4CAA-94DB-AE1733398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5392" y="1362075"/>
            <a:ext cx="9281217" cy="385762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6AD3334-1F2E-4561-882F-8D4EA79146DB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1">
                <a:solidFill>
                  <a:srgbClr val="008D9A"/>
                </a:solidFill>
              </a:defRPr>
            </a:defPPr>
          </a:lstStyle>
          <a:p>
            <a:pPr>
              <a:defRPr sz="1875" b="1">
                <a:solidFill>
                  <a:srgbClr val="008D9A"/>
                </a:solidFill>
              </a:defRPr>
            </a:pPr>
            <a:r>
              <a:rPr sz="1875" b="1">
                <a:solidFill>
                  <a:srgbClr val="008D9A"/>
                </a:solidFill>
              </a:rPr>
              <a:t>Верхний SAC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979F77-4D69-45D7-B2E3-BBA2489EF06E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Задаёт общий тяговый момент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и момент рыскания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BF9371A-48D4-4CB1-A8DB-E3724731FACC}"/>
              </a:ext>
            </a:extLst>
          </p:cNvPr>
          <p:cNvSpPr>
            <a:spLocks noGrp="1"/>
          </p:cNvSpPr>
          <p:nvPr/>
        </p:nvSpPr>
        <p:spPr>
          <a:xfrm>
            <a:off x="4314825" y="538162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1">
                <a:solidFill>
                  <a:srgbClr val="008D9A"/>
                </a:solidFill>
              </a:defRPr>
            </a:defPPr>
          </a:lstStyle>
          <a:p>
            <a:pPr>
              <a:defRPr sz="1875" b="1">
                <a:solidFill>
                  <a:srgbClr val="008D9A"/>
                </a:solidFill>
              </a:defRPr>
            </a:pPr>
            <a:r>
              <a:rPr sz="1875" b="1">
                <a:solidFill>
                  <a:srgbClr val="008D9A"/>
                </a:solidFill>
              </a:rPr>
              <a:t>Нижний SAC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E1CED2-ADFC-4721-A02D-81DEB24B3467}"/>
              </a:ext>
            </a:extLst>
          </p:cNvPr>
          <p:cNvSpPr>
            <a:spLocks noGrp="1"/>
          </p:cNvSpPr>
          <p:nvPr/>
        </p:nvSpPr>
        <p:spPr>
          <a:xfrm>
            <a:off x="4314825" y="57912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Выбирает вес τ между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безопасностью и потерями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959D62-F9A3-4E33-9242-311E7691DA77}"/>
              </a:ext>
            </a:extLst>
          </p:cNvPr>
          <p:cNvSpPr>
            <a:spLocks noGrp="1"/>
          </p:cNvSpPr>
          <p:nvPr/>
        </p:nvSpPr>
        <p:spPr>
          <a:xfrm>
            <a:off x="8096250" y="5381625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1">
                <a:solidFill>
                  <a:srgbClr val="008D9A"/>
                </a:solidFill>
              </a:defRPr>
            </a:defPPr>
          </a:lstStyle>
          <a:p>
            <a:pPr>
              <a:defRPr sz="1875" b="1">
                <a:solidFill>
                  <a:srgbClr val="008D9A"/>
                </a:solidFill>
              </a:defRPr>
            </a:pPr>
            <a:r>
              <a:rPr sz="1875" b="1">
                <a:solidFill>
                  <a:srgbClr val="008D9A"/>
                </a:solidFill>
              </a:rPr>
              <a:t>QP-оптимизатор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9F6D15-15D8-4C98-B76F-2F0E55A43289}"/>
              </a:ext>
            </a:extLst>
          </p:cNvPr>
          <p:cNvSpPr>
            <a:spLocks noGrp="1"/>
          </p:cNvSpPr>
          <p:nvPr/>
        </p:nvSpPr>
        <p:spPr>
          <a:xfrm>
            <a:off x="8096250" y="5791200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Распределяет моменты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с учётом физических ограничений</a:t>
            </a:r>
          </a:p>
        </p:txBody>
      </p:sp>
    </p:spTree>
    <p:extLst>
      <p:ext uri="{BB962C8B-B14F-4D97-AF65-F5344CB8AC3E}">
        <p14:creationId xmlns:p14="http://schemas.microsoft.com/office/powerpoint/2010/main" val="119004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FFC0639-4DAE-4D13-97F6-BCEE1C8748D2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8. </a:t>
            </a:r>
            <a:r>
              <a:rPr sz="2850" b="1" dirty="0" err="1">
                <a:solidFill>
                  <a:srgbClr val="12233F"/>
                </a:solidFill>
              </a:rPr>
              <a:t>Результаты</a:t>
            </a:r>
            <a:r>
              <a:rPr sz="2850" b="1" dirty="0">
                <a:solidFill>
                  <a:srgbClr val="12233F"/>
                </a:solidFill>
              </a:rPr>
              <a:t>, </a:t>
            </a:r>
            <a:r>
              <a:rPr sz="2850" b="1" dirty="0" err="1">
                <a:solidFill>
                  <a:srgbClr val="12233F"/>
                </a:solidFill>
              </a:rPr>
              <a:t>проверка</a:t>
            </a:r>
            <a:r>
              <a:rPr sz="2850" b="1" dirty="0">
                <a:solidFill>
                  <a:srgbClr val="12233F"/>
                </a:solidFill>
              </a:rPr>
              <a:t> и </a:t>
            </a:r>
            <a:r>
              <a:rPr sz="2850" b="1" dirty="0" err="1">
                <a:solidFill>
                  <a:srgbClr val="12233F"/>
                </a:solidFill>
              </a:rPr>
              <a:t>практическая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ценность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91CA50-5D44-4ADC-8D88-EA776FBBC8BA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Liu et al., J Zhejiang Univ-Sci A, 2026. DOI: 10.1631/jzus.A2600076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832FDF-C6C7-4F28-9A60-2A10FD764878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350" b="1">
                <a:solidFill>
                  <a:srgbClr val="008D9A"/>
                </a:solidFill>
              </a:defRPr>
            </a:defPPr>
          </a:lstStyle>
          <a:p>
            <a:pPr>
              <a:defRPr sz="4350" b="1">
                <a:solidFill>
                  <a:srgbClr val="008D9A"/>
                </a:solidFill>
              </a:defRPr>
            </a:pPr>
            <a:r>
              <a:rPr sz="4350" b="1">
                <a:solidFill>
                  <a:srgbClr val="008D9A"/>
                </a:solidFill>
              </a:rPr>
              <a:t>6,62–16,77%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3B239B-5457-49CC-8C37-0BDAB834C932}"/>
              </a:ext>
            </a:extLst>
          </p:cNvPr>
          <p:cNvSpPr>
            <a:spLocks noGrp="1"/>
          </p:cNvSpPr>
          <p:nvPr/>
        </p:nvSpPr>
        <p:spPr>
          <a:xfrm>
            <a:off x="619125" y="2124075"/>
            <a:ext cx="519112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снижение суммы потерь двигателей и шин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на моделируемом маршруте около 5 км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1F8BF5-7A7A-4AD1-BDF5-37EB60974247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1">
                <a:solidFill>
                  <a:srgbClr val="12233F"/>
                </a:solidFill>
              </a:defRPr>
            </a:defPPr>
          </a:lstStyle>
          <a:p>
            <a:pPr>
              <a:defRPr sz="1875" b="1">
                <a:solidFill>
                  <a:srgbClr val="12233F"/>
                </a:solidFill>
              </a:defRPr>
            </a:pPr>
            <a:r>
              <a:rPr sz="1875" b="1">
                <a:solidFill>
                  <a:srgbClr val="12233F"/>
                </a:solidFill>
              </a:rPr>
              <a:t>Потери энергии, кДж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AD04609-AF89-425D-B73E-B177F118FC4A}"/>
              </a:ext>
            </a:extLst>
          </p:cNvPr>
          <p:cNvGraphicFramePr/>
          <p:nvPr/>
        </p:nvGraphicFramePr>
        <p:xfrm>
          <a:off x="619125" y="3390900"/>
          <a:ext cx="523875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0AFC66-A9A9-4F49-AC48-88F5A2571DA2}"/>
              </a:ext>
            </a:extLst>
          </p:cNvPr>
          <p:cNvSpPr>
            <a:spLocks noGrp="1"/>
          </p:cNvSpPr>
          <p:nvPr/>
        </p:nvSpPr>
        <p:spPr>
          <a:xfrm>
            <a:off x="6429375" y="1381125"/>
            <a:ext cx="5095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Подтверждение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B66AD7-8E16-411B-80C8-820EC6FDF995}"/>
              </a:ext>
            </a:extLst>
          </p:cNvPr>
          <p:cNvSpPr>
            <a:spLocks noGrp="1"/>
          </p:cNvSpPr>
          <p:nvPr/>
        </p:nvSpPr>
        <p:spPr>
          <a:xfrm>
            <a:off x="6429375" y="1847850"/>
            <a:ext cx="5095875" cy="971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CarSim–Simulink и HIL на Speedgoat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При изменении массы на ±10%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отклонения энергосбережения в пределах 2%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158AC8-9921-4574-A24A-E68D5EB000DB}"/>
              </a:ext>
            </a:extLst>
          </p:cNvPr>
          <p:cNvSpPr>
            <a:spLocks noGrp="1"/>
          </p:cNvSpPr>
          <p:nvPr/>
        </p:nvSpPr>
        <p:spPr>
          <a:xfrm>
            <a:off x="6429375" y="307657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Новизна и ограничения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AC4DF8E-BB9E-4323-80CD-E888A5BFA230}"/>
              </a:ext>
            </a:extLst>
          </p:cNvPr>
          <p:cNvSpPr>
            <a:spLocks noGrp="1"/>
          </p:cNvSpPr>
          <p:nvPr/>
        </p:nvSpPr>
        <p:spPr>
          <a:xfrm>
            <a:off x="6429375" y="3571875"/>
            <a:ext cx="5095875" cy="1381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Инженерная новизна: два SAC и QP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Нет сравнения с фиксированным τ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Нет испытаний на реальном автомобиле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Работа на слабом DSP ещё требует проверки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6DE591A-E7EC-44BF-9FB3-2CBFB6FE5156}"/>
              </a:ext>
            </a:extLst>
          </p:cNvPr>
          <p:cNvSpPr>
            <a:spLocks noGrp="1"/>
          </p:cNvSpPr>
          <p:nvPr/>
        </p:nvSpPr>
        <p:spPr>
          <a:xfrm>
            <a:off x="6429375" y="5276850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1">
                <a:solidFill>
                  <a:srgbClr val="008D9A"/>
                </a:solidFill>
              </a:defRPr>
            </a:defPPr>
          </a:lstStyle>
          <a:p>
            <a:pPr>
              <a:defRPr sz="1725" b="1">
                <a:solidFill>
                  <a:srgbClr val="008D9A"/>
                </a:solidFill>
              </a:defRPr>
            </a:pPr>
            <a:r>
              <a:rPr sz="1725" b="1">
                <a:solidFill>
                  <a:srgbClr val="008D9A"/>
                </a:solidFill>
              </a:rPr>
              <a:t>Для стенда: RL выбирает приоритеты,</a:t>
            </a:r>
          </a:p>
          <a:p>
            <a:pPr>
              <a:defRPr sz="1725" b="1">
                <a:solidFill>
                  <a:srgbClr val="008D9A"/>
                </a:solidFill>
              </a:defRPr>
            </a:pPr>
            <a:r>
              <a:rPr sz="1725" b="1">
                <a:solidFill>
                  <a:srgbClr val="008D9A"/>
                </a:solidFill>
              </a:rPr>
              <a:t>классический оптимизатор задаёт управление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E6F5C92-5B6E-49F9-B417-D92CEDDDD6DA}"/>
              </a:ext>
            </a:extLst>
          </p:cNvPr>
          <p:cNvSpPr>
            <a:spLocks noGrp="1"/>
          </p:cNvSpPr>
          <p:nvPr/>
        </p:nvSpPr>
        <p:spPr>
          <a:xfrm>
            <a:off x="619125" y="60388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575" b="1">
                <a:solidFill>
                  <a:srgbClr val="12233F"/>
                </a:solidFill>
              </a:defRPr>
            </a:defPPr>
          </a:lstStyle>
          <a:p>
            <a:pPr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Экономия потерь не определяет напрямую экономию энергии аккумулятора</a:t>
            </a:r>
          </a:p>
        </p:txBody>
      </p:sp>
    </p:spTree>
    <p:extLst>
      <p:ext uri="{BB962C8B-B14F-4D97-AF65-F5344CB8AC3E}">
        <p14:creationId xmlns:p14="http://schemas.microsoft.com/office/powerpoint/2010/main" val="87025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39EDA9-9CDC-41EE-93FE-6F44721DCC3F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9. </a:t>
            </a:r>
            <a:r>
              <a:rPr sz="2850" b="1" dirty="0">
                <a:solidFill>
                  <a:srgbClr val="12233F"/>
                </a:solidFill>
              </a:rPr>
              <a:t>LSTM-TD3 </a:t>
            </a:r>
            <a:r>
              <a:rPr sz="2850" b="1" dirty="0" err="1">
                <a:solidFill>
                  <a:srgbClr val="12233F"/>
                </a:solidFill>
              </a:rPr>
              <a:t>для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координации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тяги</a:t>
            </a:r>
            <a:r>
              <a:rPr sz="2850" b="1" dirty="0">
                <a:solidFill>
                  <a:srgbClr val="12233F"/>
                </a:solidFill>
              </a:rPr>
              <a:t> и </a:t>
            </a:r>
            <a:r>
              <a:rPr sz="2850" b="1" dirty="0" err="1">
                <a:solidFill>
                  <a:srgbClr val="12233F"/>
                </a:solidFill>
              </a:rPr>
              <a:t>рекуперации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65CF14-D4D1-401B-AF1C-B4B860581675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Huimin Liu et al., IEEE TTE, 2026. DOI: 10.1109/TTE.2026.3738869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59D30F-87D0-421F-A99F-398BDE95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5208" y="1390650"/>
            <a:ext cx="8961584" cy="39243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32E9A8-9D7D-4002-9790-95B94BA71FB7}"/>
              </a:ext>
            </a:extLst>
          </p:cNvPr>
          <p:cNvSpPr>
            <a:spLocks noGrp="1"/>
          </p:cNvSpPr>
          <p:nvPr/>
        </p:nvSpPr>
        <p:spPr>
          <a:xfrm>
            <a:off x="619125" y="546735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008D9A"/>
                </a:solidFill>
              </a:defRPr>
            </a:defPPr>
          </a:lstStyle>
          <a:p>
            <a:pPr>
              <a:defRPr sz="1950" b="1">
                <a:solidFill>
                  <a:srgbClr val="008D9A"/>
                </a:solidFill>
              </a:defRPr>
            </a:pPr>
            <a:r>
              <a:rPr sz="1950" b="1">
                <a:solidFill>
                  <a:srgbClr val="008D9A"/>
                </a:solidFill>
              </a:rPr>
              <a:t>Память 1,5 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A9CF55-8CCE-4B05-B817-B82AA7AB24A0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32861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150 отсчётов по 10 мс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История 12 переменных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F24D4D-C1C5-4D98-BCD0-0C478DACC926}"/>
              </a:ext>
            </a:extLst>
          </p:cNvPr>
          <p:cNvSpPr>
            <a:spLocks noGrp="1"/>
          </p:cNvSpPr>
          <p:nvPr/>
        </p:nvSpPr>
        <p:spPr>
          <a:xfrm>
            <a:off x="4314825" y="54673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008D9A"/>
                </a:solidFill>
              </a:defRPr>
            </a:defPPr>
          </a:lstStyle>
          <a:p>
            <a:pPr>
              <a:defRPr sz="1950" b="1">
                <a:solidFill>
                  <a:srgbClr val="008D9A"/>
                </a:solidFill>
              </a:defRPr>
            </a:pPr>
            <a:r>
              <a:rPr sz="1950" b="1">
                <a:solidFill>
                  <a:srgbClr val="008D9A"/>
                </a:solidFill>
              </a:rPr>
              <a:t>Две команды момента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F0253C-361C-4DAA-B26F-844F514135FE}"/>
              </a:ext>
            </a:extLst>
          </p:cNvPr>
          <p:cNvSpPr>
            <a:spLocks noGrp="1"/>
          </p:cNvSpPr>
          <p:nvPr/>
        </p:nvSpPr>
        <p:spPr>
          <a:xfrm>
            <a:off x="4314825" y="58483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Передняя и задняя оси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Тяга и рекуперация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99EA17-FE9A-4593-B294-66E792758780}"/>
              </a:ext>
            </a:extLst>
          </p:cNvPr>
          <p:cNvSpPr>
            <a:spLocks noGrp="1"/>
          </p:cNvSpPr>
          <p:nvPr/>
        </p:nvSpPr>
        <p:spPr>
          <a:xfrm>
            <a:off x="8096250" y="5467350"/>
            <a:ext cx="3476625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008D9A"/>
                </a:solidFill>
              </a:defRPr>
            </a:defPPr>
          </a:lstStyle>
          <a:p>
            <a:pPr>
              <a:defRPr sz="1950" b="1">
                <a:solidFill>
                  <a:srgbClr val="008D9A"/>
                </a:solidFill>
              </a:defRPr>
            </a:pPr>
            <a:r>
              <a:rPr sz="1950" b="1">
                <a:solidFill>
                  <a:srgbClr val="008D9A"/>
                </a:solidFill>
              </a:rPr>
              <a:t>Коррекция ограничений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0FC5DE-1B04-4B1F-AEAC-E4648C42D5A4}"/>
              </a:ext>
            </a:extLst>
          </p:cNvPr>
          <p:cNvSpPr>
            <a:spLocks noGrp="1"/>
          </p:cNvSpPr>
          <p:nvPr/>
        </p:nvSpPr>
        <p:spPr>
          <a:xfrm>
            <a:off x="8096250" y="5848350"/>
            <a:ext cx="3476625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Двигатели и аккумулятор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Приоритет ABS / EBD / ESP</a:t>
            </a:r>
          </a:p>
        </p:txBody>
      </p:sp>
    </p:spTree>
    <p:extLst>
      <p:ext uri="{BB962C8B-B14F-4D97-AF65-F5344CB8AC3E}">
        <p14:creationId xmlns:p14="http://schemas.microsoft.com/office/powerpoint/2010/main" val="2054233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B912D03-DFED-40BD-88A4-08518CC8081A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9. </a:t>
            </a:r>
            <a:r>
              <a:rPr sz="2850" b="1" dirty="0" err="1">
                <a:solidFill>
                  <a:srgbClr val="12233F"/>
                </a:solidFill>
              </a:rPr>
              <a:t>Энергосбережение</a:t>
            </a:r>
            <a:r>
              <a:rPr sz="2850" b="1" dirty="0">
                <a:solidFill>
                  <a:srgbClr val="12233F"/>
                </a:solidFill>
              </a:rPr>
              <a:t> и </a:t>
            </a:r>
            <a:r>
              <a:rPr sz="2850" b="1" dirty="0" err="1">
                <a:solidFill>
                  <a:srgbClr val="12233F"/>
                </a:solidFill>
              </a:rPr>
              <a:t>исполнение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на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автомобильном</a:t>
            </a:r>
            <a:r>
              <a:rPr sz="2850" b="1" dirty="0">
                <a:solidFill>
                  <a:srgbClr val="12233F"/>
                </a:solidFill>
              </a:rPr>
              <a:t> VCU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EEE315-0B4F-45DE-BB34-6241DD8EA4F4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Huimin Liu et al., IEEE TTE, 2026. DOI: 10.1109/TTE.2026.3738869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18F7DD-E190-4981-8299-574F219748A6}"/>
              </a:ext>
            </a:extLst>
          </p:cNvPr>
          <p:cNvSpPr>
            <a:spLocks noGrp="1"/>
          </p:cNvSpPr>
          <p:nvPr/>
        </p:nvSpPr>
        <p:spPr>
          <a:xfrm>
            <a:off x="619125" y="137160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350" b="1">
                <a:solidFill>
                  <a:srgbClr val="008D9A"/>
                </a:solidFill>
              </a:defRPr>
            </a:defPPr>
          </a:lstStyle>
          <a:p>
            <a:pPr>
              <a:defRPr sz="4350" b="1">
                <a:solidFill>
                  <a:srgbClr val="008D9A"/>
                </a:solidFill>
              </a:defRPr>
            </a:pPr>
            <a:r>
              <a:rPr sz="4350" b="1">
                <a:solidFill>
                  <a:srgbClr val="008D9A"/>
                </a:solidFill>
              </a:rPr>
              <a:t>8,13%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3C995A-E96F-4AFF-8AF5-2B053E9B42E3}"/>
              </a:ext>
            </a:extLst>
          </p:cNvPr>
          <p:cNvSpPr>
            <a:spLocks noGrp="1"/>
          </p:cNvSpPr>
          <p:nvPr/>
        </p:nvSpPr>
        <p:spPr>
          <a:xfrm>
            <a:off x="619125" y="2085975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экономия относительно DP-NC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с приоритетом механического торможения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584A1E-C0D3-48A0-8AEF-E2D177200AE0}"/>
              </a:ext>
            </a:extLst>
          </p:cNvPr>
          <p:cNvSpPr>
            <a:spLocks noGrp="1"/>
          </p:cNvSpPr>
          <p:nvPr/>
        </p:nvSpPr>
        <p:spPr>
          <a:xfrm>
            <a:off x="6429375" y="137160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350" b="1">
                <a:solidFill>
                  <a:srgbClr val="008D9A"/>
                </a:solidFill>
              </a:defRPr>
            </a:defPPr>
          </a:lstStyle>
          <a:p>
            <a:pPr>
              <a:defRPr sz="4350" b="1">
                <a:solidFill>
                  <a:srgbClr val="008D9A"/>
                </a:solidFill>
              </a:defRPr>
            </a:pPr>
            <a:r>
              <a:rPr sz="4350" b="1">
                <a:solidFill>
                  <a:srgbClr val="008D9A"/>
                </a:solidFill>
              </a:rPr>
              <a:t>1,3%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C532FA-0B51-46C9-932E-62BCAB607CE9}"/>
              </a:ext>
            </a:extLst>
          </p:cNvPr>
          <p:cNvSpPr>
            <a:spLocks noGrp="1"/>
          </p:cNvSpPr>
          <p:nvPr/>
        </p:nvSpPr>
        <p:spPr>
          <a:xfrm>
            <a:off x="6429375" y="208597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дополнительная экономия относительно TD3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при добавлении LSTM-памяти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623027-4A13-4192-84FF-E1D7C992F40D}"/>
              </a:ext>
            </a:extLst>
          </p:cNvPr>
          <p:cNvSpPr>
            <a:spLocks noGrp="1"/>
          </p:cNvSpPr>
          <p:nvPr/>
        </p:nvSpPr>
        <p:spPr>
          <a:xfrm>
            <a:off x="619125" y="28860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1">
                <a:solidFill>
                  <a:srgbClr val="12233F"/>
                </a:solidFill>
              </a:defRPr>
            </a:defPPr>
          </a:lstStyle>
          <a:p>
            <a:pPr>
              <a:defRPr sz="1875" b="1">
                <a:solidFill>
                  <a:srgbClr val="12233F"/>
                </a:solidFill>
              </a:defRPr>
            </a:pPr>
            <a:r>
              <a:rPr sz="1875" b="1">
                <a:solidFill>
                  <a:srgbClr val="12233F"/>
                </a:solidFill>
              </a:rPr>
              <a:t>Расход: 11,56 против 11,71 кВт·ч/100 км у TD3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88832C-F35A-4FA1-A77D-08B3C9D7FCD6}"/>
              </a:ext>
            </a:extLst>
          </p:cNvPr>
          <p:cNvSpPr>
            <a:spLocks noGrp="1"/>
          </p:cNvSpPr>
          <p:nvPr/>
        </p:nvSpPr>
        <p:spPr>
          <a:xfrm>
            <a:off x="619125" y="3571875"/>
            <a:ext cx="5286375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12233F"/>
                </a:solidFill>
              </a:defRPr>
            </a:defPPr>
          </a:lstStyle>
          <a:p>
            <a:pPr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HIL: dSPACE и автомобильный VCU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026AD7-8979-417B-86C9-236D81DB26AB}"/>
              </a:ext>
            </a:extLst>
          </p:cNvPr>
          <p:cNvSpPr>
            <a:spLocks noGrp="1"/>
          </p:cNvSpPr>
          <p:nvPr/>
        </p:nvSpPr>
        <p:spPr>
          <a:xfrm>
            <a:off x="619125" y="403860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Actor в C-коде: 0,206 мс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Полный цикл: менее 2 мс из 10 мс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96 578 параметров, около 377 КБ FP32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CE4EA7D-4EE6-44A5-B596-CD44CF4B49EF}"/>
              </a:ext>
            </a:extLst>
          </p:cNvPr>
          <p:cNvSpPr>
            <a:spLocks noGrp="1"/>
          </p:cNvSpPr>
          <p:nvPr/>
        </p:nvSpPr>
        <p:spPr>
          <a:xfrm>
            <a:off x="619125" y="5229225"/>
            <a:ext cx="5286375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1">
                <a:solidFill>
                  <a:srgbClr val="008D9A"/>
                </a:solidFill>
              </a:defRPr>
            </a:defPPr>
          </a:lstStyle>
          <a:p>
            <a:pPr>
              <a:defRPr sz="1650" b="1">
                <a:solidFill>
                  <a:srgbClr val="008D9A"/>
                </a:solidFill>
              </a:defRPr>
            </a:pPr>
            <a:r>
              <a:rPr sz="1650" b="1">
                <a:solidFill>
                  <a:srgbClr val="008D9A"/>
                </a:solidFill>
              </a:rPr>
              <a:t>Три запуска обучения и 30 независимых</a:t>
            </a:r>
          </a:p>
          <a:p>
            <a:pPr>
              <a:defRPr sz="1650" b="1">
                <a:solidFill>
                  <a:srgbClr val="008D9A"/>
                </a:solidFill>
              </a:defRPr>
            </a:pPr>
            <a:r>
              <a:rPr sz="1650" b="1">
                <a:solidFill>
                  <a:srgbClr val="008D9A"/>
                </a:solidFill>
              </a:rPr>
              <a:t>сегментов поддерживают устойчивость результата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80B601-F68F-4274-9DC5-4A8AB45EE39D}"/>
              </a:ext>
            </a:extLst>
          </p:cNvPr>
          <p:cNvSpPr>
            <a:spLocks noGrp="1"/>
          </p:cNvSpPr>
          <p:nvPr/>
        </p:nvSpPr>
        <p:spPr>
          <a:xfrm>
            <a:off x="6429375" y="3571875"/>
            <a:ext cx="5095875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12233F"/>
                </a:solidFill>
              </a:defRPr>
            </a:defPPr>
          </a:lstStyle>
          <a:p>
            <a:pPr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Новизна и ограничения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35317B-9AFB-493C-A4F2-C6A9E6BF501B}"/>
              </a:ext>
            </a:extLst>
          </p:cNvPr>
          <p:cNvSpPr>
            <a:spLocks noGrp="1"/>
          </p:cNvSpPr>
          <p:nvPr/>
        </p:nvSpPr>
        <p:spPr>
          <a:xfrm>
            <a:off x="6429375" y="4038600"/>
            <a:ext cx="5095875" cy="1352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Инженерная новизна: память и подбор её длины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Нет сравнения с MPC при тех же ограничениях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Нет замкнутых дорожных испытаний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Боковое управление колёсами не рассматривается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AA2BF15-6E20-4B05-BD6B-D709C13B0B7E}"/>
              </a:ext>
            </a:extLst>
          </p:cNvPr>
          <p:cNvSpPr>
            <a:spLocks noGrp="1"/>
          </p:cNvSpPr>
          <p:nvPr/>
        </p:nvSpPr>
        <p:spPr>
          <a:xfrm>
            <a:off x="619125" y="601980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575" b="1">
                <a:solidFill>
                  <a:srgbClr val="12233F"/>
                </a:solidFill>
              </a:defRPr>
            </a:defPPr>
          </a:lstStyle>
          <a:p>
            <a:pPr>
              <a:defRPr sz="1575" b="1">
                <a:solidFill>
                  <a:srgbClr val="12233F"/>
                </a:solidFill>
              </a:defRPr>
            </a:pPr>
            <a:r>
              <a:rPr sz="1575" b="1">
                <a:solidFill>
                  <a:srgbClr val="12233F"/>
                </a:solidFill>
              </a:rPr>
              <a:t>DP-C даёт нижнюю оценку с ослабленными ограничениями: расход LSTM-TD3 выше неё на 5,67%</a:t>
            </a:r>
          </a:p>
        </p:txBody>
      </p:sp>
    </p:spTree>
    <p:extLst>
      <p:ext uri="{BB962C8B-B14F-4D97-AF65-F5344CB8AC3E}">
        <p14:creationId xmlns:p14="http://schemas.microsoft.com/office/powerpoint/2010/main" val="707934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3F69FA-1F72-45B6-8945-A78A11A02939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10. </a:t>
            </a:r>
            <a:r>
              <a:rPr sz="2850" b="1" dirty="0" err="1">
                <a:solidFill>
                  <a:srgbClr val="12233F"/>
                </a:solidFill>
              </a:rPr>
              <a:t>Подбор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передаточного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отношения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главной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передачи</a:t>
            </a:r>
            <a:r>
              <a:rPr sz="2850" b="1" dirty="0">
                <a:solidFill>
                  <a:srgbClr val="12233F"/>
                </a:solidFill>
              </a:rPr>
              <a:t> REEV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AC6D23-66A5-45C5-811C-841BA419129A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Naifa Gong et al., METMS, 2026. DOI: 10.1109/METMS70800.2026.11705878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526C29-B513-44AD-83A0-8574ED5B285F}"/>
              </a:ext>
            </a:extLst>
          </p:cNvPr>
          <p:cNvSpPr>
            <a:spLocks noGrp="1"/>
          </p:cNvSpPr>
          <p:nvPr/>
        </p:nvSpPr>
        <p:spPr>
          <a:xfrm>
            <a:off x="619125" y="14287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12233F"/>
                </a:solidFill>
              </a:defRPr>
            </a:defPPr>
          </a:lstStyle>
          <a:p>
            <a:pPr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Модель последовательного гибрида в AVL Cruise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283EAB-5050-4FCC-A7AE-C3D18D510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054" y="2028825"/>
            <a:ext cx="6705267" cy="378142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1B5279-45EF-4CB0-B6F1-E55140D919C1}"/>
              </a:ext>
            </a:extLst>
          </p:cNvPr>
          <p:cNvSpPr>
            <a:spLocks noGrp="1"/>
          </p:cNvSpPr>
          <p:nvPr/>
        </p:nvSpPr>
        <p:spPr>
          <a:xfrm>
            <a:off x="7858125" y="1476375"/>
            <a:ext cx="36195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3300" b="1">
                <a:solidFill>
                  <a:srgbClr val="008D9A"/>
                </a:solidFill>
              </a:defRPr>
            </a:defPPr>
          </a:lstStyle>
          <a:p>
            <a:pPr>
              <a:defRPr sz="3300" b="1">
                <a:solidFill>
                  <a:srgbClr val="008D9A"/>
                </a:solidFill>
              </a:defRPr>
            </a:pPr>
            <a:r>
              <a:rPr sz="3300" b="1">
                <a:solidFill>
                  <a:srgbClr val="008D9A"/>
                </a:solidFill>
              </a:rPr>
              <a:t>35 вариантов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C0287A-91EC-4E8D-ACBC-297BF6BC3E56}"/>
              </a:ext>
            </a:extLst>
          </p:cNvPr>
          <p:cNvSpPr>
            <a:spLocks noGrp="1"/>
          </p:cNvSpPr>
          <p:nvPr/>
        </p:nvSpPr>
        <p:spPr>
          <a:xfrm>
            <a:off x="7858125" y="2190750"/>
            <a:ext cx="3619500" cy="628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75" b="0">
                <a:solidFill>
                  <a:srgbClr val="172033"/>
                </a:solidFill>
              </a:defRPr>
            </a:defPPr>
          </a:lstStyle>
          <a:p>
            <a:pPr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Диапазон 2,1–8,9</a:t>
            </a:r>
          </a:p>
          <a:p>
            <a:pPr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Шаг перебора 0,2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48BA94-4368-4993-AF16-9B09483ADCEC}"/>
              </a:ext>
            </a:extLst>
          </p:cNvPr>
          <p:cNvSpPr>
            <a:spLocks noGrp="1"/>
          </p:cNvSpPr>
          <p:nvPr/>
        </p:nvSpPr>
        <p:spPr>
          <a:xfrm>
            <a:off x="7858125" y="3286125"/>
            <a:ext cx="3619500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12233F"/>
                </a:solidFill>
              </a:defRPr>
            </a:defPPr>
          </a:lstStyle>
          <a:p>
            <a:pPr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Выбранное отношение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D898C5-6170-4635-A663-241188AB7B11}"/>
              </a:ext>
            </a:extLst>
          </p:cNvPr>
          <p:cNvSpPr>
            <a:spLocks noGrp="1"/>
          </p:cNvSpPr>
          <p:nvPr/>
        </p:nvSpPr>
        <p:spPr>
          <a:xfrm>
            <a:off x="7858125" y="376237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650" b="1">
                <a:solidFill>
                  <a:srgbClr val="008D9A"/>
                </a:solidFill>
              </a:defRPr>
            </a:defPPr>
          </a:lstStyle>
          <a:p>
            <a:pPr>
              <a:defRPr sz="4650" b="1">
                <a:solidFill>
                  <a:srgbClr val="008D9A"/>
                </a:solidFill>
              </a:defRPr>
            </a:pPr>
            <a:r>
              <a:rPr sz="4650" b="1">
                <a:solidFill>
                  <a:srgbClr val="008D9A"/>
                </a:solidFill>
              </a:rPr>
              <a:t>4,9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4C4A92-5352-46AB-A686-2C4A23AC1F69}"/>
              </a:ext>
            </a:extLst>
          </p:cNvPr>
          <p:cNvSpPr>
            <a:spLocks noGrp="1"/>
          </p:cNvSpPr>
          <p:nvPr/>
        </p:nvSpPr>
        <p:spPr>
          <a:xfrm>
            <a:off x="7858125" y="4714875"/>
            <a:ext cx="3619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Минимум взвешенного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расхода топлива и электроэнергии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235207F-27F4-4389-B0B5-7B20F4A28533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1">
                <a:solidFill>
                  <a:srgbClr val="12233F"/>
                </a:solidFill>
              </a:defRPr>
            </a:defPPr>
          </a:lstStyle>
          <a:p>
            <a:pPr>
              <a:defRPr sz="1725" b="1">
                <a:solidFill>
                  <a:srgbClr val="12233F"/>
                </a:solidFill>
              </a:defRPr>
            </a:pPr>
            <a:r>
              <a:rPr sz="1725" b="1">
                <a:solidFill>
                  <a:srgbClr val="12233F"/>
                </a:solidFill>
              </a:rPr>
              <a:t>Электродвигатель 150 кВт, аккумулятор 40,5 кВт·ч, увеличитель запаса хода 1,5 л</a:t>
            </a:r>
          </a:p>
        </p:txBody>
      </p:sp>
    </p:spTree>
    <p:extLst>
      <p:ext uri="{BB962C8B-B14F-4D97-AF65-F5344CB8AC3E}">
        <p14:creationId xmlns:p14="http://schemas.microsoft.com/office/powerpoint/2010/main" val="156060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8C7A4DA-B86E-477C-B225-44580B5DD207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10. </a:t>
            </a:r>
            <a:r>
              <a:rPr sz="2850" b="1" dirty="0" err="1">
                <a:solidFill>
                  <a:srgbClr val="12233F"/>
                </a:solidFill>
              </a:rPr>
              <a:t>Расчётный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эффект</a:t>
            </a:r>
            <a:r>
              <a:rPr sz="2850" b="1" dirty="0">
                <a:solidFill>
                  <a:srgbClr val="12233F"/>
                </a:solidFill>
              </a:rPr>
              <a:t> и </a:t>
            </a:r>
            <a:r>
              <a:rPr sz="2850" b="1" dirty="0" err="1">
                <a:solidFill>
                  <a:srgbClr val="12233F"/>
                </a:solidFill>
              </a:rPr>
              <a:t>ограничения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результата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206117-5AF0-492D-B157-184222C30A21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Naifa Gong et al., METMS, 2026. DOI: 10.1109/METMS70800.2026.11705878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D863BC-5E5E-491A-ACA4-DB774E2AA287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350" b="1">
                <a:solidFill>
                  <a:srgbClr val="008D9A"/>
                </a:solidFill>
              </a:defRPr>
            </a:defPPr>
          </a:lstStyle>
          <a:p>
            <a:pPr>
              <a:defRPr sz="4350" b="1">
                <a:solidFill>
                  <a:srgbClr val="008D9A"/>
                </a:solidFill>
              </a:defRPr>
            </a:pPr>
            <a:r>
              <a:rPr sz="4350" b="1">
                <a:solidFill>
                  <a:srgbClr val="008D9A"/>
                </a:solidFill>
              </a:rPr>
              <a:t>−4,9%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3CA353-6B95-4EB3-87AF-472B57B1890A}"/>
              </a:ext>
            </a:extLst>
          </p:cNvPr>
          <p:cNvSpPr>
            <a:spLocks noGrp="1"/>
          </p:cNvSpPr>
          <p:nvPr/>
        </p:nvSpPr>
        <p:spPr>
          <a:xfrm>
            <a:off x="619125" y="21240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расхода топлива: 3,64 до 3,46 л/100 км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AAED808-C394-44A4-9417-BC18B4EFE1D5}"/>
              </a:ext>
            </a:extLst>
          </p:cNvPr>
          <p:cNvGraphicFramePr/>
          <p:nvPr/>
        </p:nvGraphicFramePr>
        <p:xfrm>
          <a:off x="619125" y="2905125"/>
          <a:ext cx="6191250" cy="2571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95250" marR="76200" marT="76200" marB="762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До</a:t>
                      </a:r>
                    </a:p>
                  </a:txBody>
                  <a:tcPr marL="95250" marR="76200" marT="76200" marB="762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После</a:t>
                      </a:r>
                    </a:p>
                  </a:txBody>
                  <a:tcPr marL="95250" marR="76200" marT="76200" marB="762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Цель</a:t>
                      </a:r>
                    </a:p>
                  </a:txBody>
                  <a:tcPr marL="95250" marR="76200" marT="76200" marB="76200"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Топливо, л/100 км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3,64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8D9A"/>
                          </a:solidFill>
                        </a:rPr>
                        <a:t>3,46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≤ 7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Уклон, %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40,57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8D9A"/>
                          </a:solidFill>
                        </a:rPr>
                        <a:t>28,58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≥ 25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0–100 км/ч, с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9,97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8D9A"/>
                          </a:solidFill>
                        </a:rPr>
                        <a:t>11,68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≤ 15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Скорость, км/ч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174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8D9A"/>
                          </a:solidFill>
                        </a:rPr>
                        <a:t>185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033"/>
                          </a:solidFill>
                        </a:rPr>
                        <a:t>≥ 140</a:t>
                      </a:r>
                    </a:p>
                  </a:txBody>
                  <a:tcPr marL="9525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116A9E-DC7B-4F9E-826A-12027BE36F3B}"/>
              </a:ext>
            </a:extLst>
          </p:cNvPr>
          <p:cNvSpPr>
            <a:spLocks noGrp="1"/>
          </p:cNvSpPr>
          <p:nvPr/>
        </p:nvSpPr>
        <p:spPr>
          <a:xfrm>
            <a:off x="7239000" y="1476375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Только моделирование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A3E5B8-596D-4008-AB6C-583A13467C70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4333875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Нет стенда, HIL и дорожных испытаний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A60080-8659-4F9E-8051-A880C601107A}"/>
              </a:ext>
            </a:extLst>
          </p:cNvPr>
          <p:cNvSpPr>
            <a:spLocks noGrp="1"/>
          </p:cNvSpPr>
          <p:nvPr/>
        </p:nvSpPr>
        <p:spPr>
          <a:xfrm>
            <a:off x="7239000" y="2876550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Методические проблемы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A8074C-329F-4F0E-BC72-71482A75952C}"/>
              </a:ext>
            </a:extLst>
          </p:cNvPr>
          <p:cNvSpPr>
            <a:spLocks noGrp="1"/>
          </p:cNvSpPr>
          <p:nvPr/>
        </p:nvSpPr>
        <p:spPr>
          <a:xfrm>
            <a:off x="7239000" y="3352800"/>
            <a:ext cx="4333875" cy="2095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172033"/>
                </a:solidFill>
              </a:defRPr>
            </a:defPPr>
          </a:lstStyle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Топливо и электроэнергия в критерии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не приведены к общей единице</a:t>
            </a:r>
          </a:p>
          <a:p>
            <a:endParaRPr sz="1650" b="0">
              <a:solidFill>
                <a:srgbClr val="172033"/>
              </a:solidFill>
            </a:endParaRP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Не раскрыт итоговый баланс SOC</a:t>
            </a:r>
          </a:p>
          <a:p>
            <a:endParaRPr sz="1650" b="0">
              <a:solidFill>
                <a:srgbClr val="172033"/>
              </a:solidFill>
            </a:endParaRP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NVH не проверен, в библиографии</a:t>
            </a:r>
          </a:p>
          <a:p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есть посторонние источники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E7E2E18-E91B-4CD1-8B54-98B0CCA96DC9}"/>
              </a:ext>
            </a:extLst>
          </p:cNvPr>
          <p:cNvSpPr>
            <a:spLocks noGrp="1"/>
          </p:cNvSpPr>
          <p:nvPr/>
        </p:nvSpPr>
        <p:spPr>
          <a:xfrm>
            <a:off x="619125" y="57340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1">
                <a:solidFill>
                  <a:srgbClr val="12233F"/>
                </a:solidFill>
              </a:defRPr>
            </a:defPPr>
          </a:lstStyle>
          <a:p>
            <a:pPr>
              <a:defRPr sz="1725" b="1">
                <a:solidFill>
                  <a:srgbClr val="12233F"/>
                </a:solidFill>
              </a:defRPr>
            </a:pPr>
            <a:r>
              <a:rPr sz="1725" b="1">
                <a:solidFill>
                  <a:srgbClr val="12233F"/>
                </a:solidFill>
              </a:rPr>
              <a:t>Разгон и способность преодолевать уклон ухудшились, но требования выполняются</a:t>
            </a:r>
          </a:p>
        </p:txBody>
      </p:sp>
    </p:spTree>
    <p:extLst>
      <p:ext uri="{BB962C8B-B14F-4D97-AF65-F5344CB8AC3E}">
        <p14:creationId xmlns:p14="http://schemas.microsoft.com/office/powerpoint/2010/main" val="88594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CB83376-C131-4696-BBD7-9841CACA8F45}"/>
              </a:ext>
            </a:extLst>
          </p:cNvPr>
          <p:cNvSpPr>
            <a:spLocks noGrp="1"/>
          </p:cNvSpPr>
          <p:nvPr/>
        </p:nvSpPr>
        <p:spPr>
          <a:xfrm>
            <a:off x="619125" y="36195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11.1 </a:t>
            </a:r>
            <a:r>
              <a:rPr sz="2850" b="1" dirty="0" err="1">
                <a:solidFill>
                  <a:srgbClr val="12233F"/>
                </a:solidFill>
              </a:rPr>
              <a:t>Признаки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дефектов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подшипников</a:t>
            </a:r>
            <a:r>
              <a:rPr sz="2850" b="1" dirty="0">
                <a:solidFill>
                  <a:srgbClr val="12233F"/>
                </a:solidFill>
              </a:rPr>
              <a:t> в PMSM и АД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1D18FD-02E9-42EA-BA07-2E11D9451199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5D687A"/>
                </a:solidFill>
              </a:defRPr>
            </a:defPPr>
          </a:lstStyle>
          <a:p>
            <a:pPr>
              <a:defRPr sz="1650" b="0">
                <a:solidFill>
                  <a:srgbClr val="5D687A"/>
                </a:solidFill>
              </a:defRPr>
            </a:pPr>
            <a:r>
              <a:rPr sz="1650" b="0">
                <a:solidFill>
                  <a:srgbClr val="5D687A"/>
                </a:solidFill>
              </a:rPr>
              <a:t>Oliwia Frankiewicz · Comparison of Rolling Bearing Fault Symptoms in PMSM and Induction Motors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63458D-666D-45DD-9DBD-251D2FC50F8D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Rajd Doktoranta 2026, сборник тезисов, с. 10. DOI: 10.37190/rado2026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494AC5-4213-48F9-8A19-2EE2FCFF2CAF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Идея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AFD1D48-092C-42CB-995A-3F5B45CD7E93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Сравнить проявления одного типа дефекта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в двигателях разной конструкции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4667103-6270-4F20-BD2A-EBC6C865685C}"/>
              </a:ext>
            </a:extLst>
          </p:cNvPr>
          <p:cNvGraphicFramePr/>
          <p:nvPr/>
        </p:nvGraphicFramePr>
        <p:xfrm>
          <a:off x="619125" y="3333750"/>
          <a:ext cx="6191250" cy="232124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Сигнал</a:t>
                      </a:r>
                    </a:p>
                  </a:txBody>
                  <a:tcPr marL="95250" marR="95250" marT="76200" marB="762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Предмет сравнения</a:t>
                      </a:r>
                    </a:p>
                  </a:txBody>
                  <a:tcPr marL="95250" marR="95250" marT="76200" marB="76200"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Вибрации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Спектральные признаки дефекта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Фазные токи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Боковые составляющие и модуляция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Поток рассеяния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Компоненты, связанные с повреждением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8DAEFC-7D34-4DA9-B204-0E5921A00270}"/>
              </a:ext>
            </a:extLst>
          </p:cNvPr>
          <p:cNvSpPr>
            <a:spLocks noGrp="1"/>
          </p:cNvSpPr>
          <p:nvPr/>
        </p:nvSpPr>
        <p:spPr>
          <a:xfrm>
            <a:off x="7239000" y="3333750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Для вашего стенда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4B86784-8C75-436F-BACD-94CA0DD1DACB}"/>
              </a:ext>
            </a:extLst>
          </p:cNvPr>
          <p:cNvSpPr>
            <a:spLocks noGrp="1"/>
          </p:cNvSpPr>
          <p:nvPr/>
        </p:nvSpPr>
        <p:spPr>
          <a:xfrm>
            <a:off x="7239000" y="3838575"/>
            <a:ext cx="4333875" cy="1238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Проверка переноса диагностики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между PMSM и асинхронным двигателем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при разных скоростях и нагрузках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80D8A46-8A24-4D54-B94C-980744BC4B3B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1">
                <a:solidFill>
                  <a:srgbClr val="008D9A"/>
                </a:solidFill>
              </a:defRPr>
            </a:defPPr>
          </a:lstStyle>
          <a:p>
            <a:pPr>
              <a:defRPr sz="1800" b="1">
                <a:solidFill>
                  <a:srgbClr val="008D9A"/>
                </a:solidFill>
              </a:defRPr>
            </a:pPr>
            <a:r>
              <a:rPr sz="1800" b="1">
                <a:solidFill>
                  <a:srgbClr val="008D9A"/>
                </a:solidFill>
              </a:rPr>
              <a:t>В тезисах нет количественного сравнения и протокола испытаний</a:t>
            </a:r>
          </a:p>
        </p:txBody>
      </p:sp>
    </p:spTree>
    <p:extLst>
      <p:ext uri="{BB962C8B-B14F-4D97-AF65-F5344CB8AC3E}">
        <p14:creationId xmlns:p14="http://schemas.microsoft.com/office/powerpoint/2010/main" val="1460745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3CA9CB-C126-47A8-983F-FA8155D619F6}"/>
              </a:ext>
            </a:extLst>
          </p:cNvPr>
          <p:cNvSpPr>
            <a:spLocks noGrp="1"/>
          </p:cNvSpPr>
          <p:nvPr/>
        </p:nvSpPr>
        <p:spPr>
          <a:xfrm>
            <a:off x="619125" y="36195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11.2 </a:t>
            </a:r>
            <a:r>
              <a:rPr sz="2850" b="1" dirty="0">
                <a:solidFill>
                  <a:srgbClr val="12233F"/>
                </a:solidFill>
              </a:rPr>
              <a:t>FFT-</a:t>
            </a:r>
            <a:r>
              <a:rPr sz="2850" b="1" dirty="0" err="1">
                <a:solidFill>
                  <a:srgbClr val="12233F"/>
                </a:solidFill>
              </a:rPr>
              <a:t>дополнение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данных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для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диагностики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стержней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ротора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EAC9C2-B93B-4496-BB4D-8415CAE6B7F1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5D687A"/>
                </a:solidFill>
              </a:defRPr>
            </a:defPPr>
          </a:lstStyle>
          <a:p>
            <a:pPr>
              <a:defRPr sz="1650" b="0">
                <a:solidFill>
                  <a:srgbClr val="5D687A"/>
                </a:solidFill>
              </a:defRPr>
            </a:pPr>
            <a:r>
              <a:rPr sz="1650" b="0">
                <a:solidFill>
                  <a:srgbClr val="5D687A"/>
                </a:solidFill>
              </a:rPr>
              <a:t>Jeremi Jarosz · FFT-Based Load-Domain Completion for Broken Rotor Bar Diagnosis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9AC80A-4C58-4EBD-9863-0A2887E45833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Rajd Doktoranta 2026, сборник тезисов, с. 13. DOI: 10.37190/rado2026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5555BA-55FC-41A1-968B-E79151257AE2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650" b="1">
                <a:solidFill>
                  <a:srgbClr val="5D687A"/>
                </a:solidFill>
              </a:defRPr>
            </a:defPPr>
          </a:lstStyle>
          <a:p>
            <a:pPr>
              <a:defRPr sz="4650" b="1">
                <a:solidFill>
                  <a:srgbClr val="5D687A"/>
                </a:solidFill>
              </a:defRPr>
            </a:pPr>
            <a:r>
              <a:rPr sz="4650" b="1">
                <a:solidFill>
                  <a:srgbClr val="5D687A"/>
                </a:solidFill>
              </a:rPr>
              <a:t>30%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FD08A27-6033-493F-8D6A-E75194ECB25D}"/>
              </a:ext>
            </a:extLst>
          </p:cNvPr>
          <p:cNvSpPr>
            <a:spLocks noGrp="1"/>
          </p:cNvSpPr>
          <p:nvPr/>
        </p:nvSpPr>
        <p:spPr>
          <a:xfrm>
            <a:off x="619125" y="2847975"/>
            <a:ext cx="5048250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точность без дополнения данных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E95697-4709-45FA-AF3B-C867EB5B67F5}"/>
              </a:ext>
            </a:extLst>
          </p:cNvPr>
          <p:cNvSpPr>
            <a:spLocks noGrp="1"/>
          </p:cNvSpPr>
          <p:nvPr/>
        </p:nvSpPr>
        <p:spPr>
          <a:xfrm>
            <a:off x="6429375" y="2000250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4650" b="1">
                <a:solidFill>
                  <a:srgbClr val="008D9A"/>
                </a:solidFill>
              </a:defRPr>
            </a:defPPr>
          </a:lstStyle>
          <a:p>
            <a:pPr>
              <a:defRPr sz="4650" b="1">
                <a:solidFill>
                  <a:srgbClr val="008D9A"/>
                </a:solidFill>
              </a:defRPr>
            </a:pPr>
            <a:r>
              <a:rPr sz="4650" b="1">
                <a:solidFill>
                  <a:srgbClr val="008D9A"/>
                </a:solidFill>
              </a:rPr>
              <a:t>60–64%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548A0E0-3F66-44F5-96BF-047E901BDB58}"/>
              </a:ext>
            </a:extLst>
          </p:cNvPr>
          <p:cNvSpPr>
            <a:spLocks noGrp="1"/>
          </p:cNvSpPr>
          <p:nvPr/>
        </p:nvSpPr>
        <p:spPr>
          <a:xfrm>
            <a:off x="6429375" y="2847975"/>
            <a:ext cx="5095875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после FFT-дополнения по нагрузке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DED4D4-DC7D-4C15-8ADB-315384EB4EB4}"/>
              </a:ext>
            </a:extLst>
          </p:cNvPr>
          <p:cNvSpPr>
            <a:spLocks noGrp="1"/>
          </p:cNvSpPr>
          <p:nvPr/>
        </p:nvSpPr>
        <p:spPr>
          <a:xfrm>
            <a:off x="619125" y="371475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Как работает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85980B-30AA-4F80-93A6-10C95C7335E9}"/>
              </a:ext>
            </a:extLst>
          </p:cNvPr>
          <p:cNvSpPr>
            <a:spLocks noGrp="1"/>
          </p:cNvSpPr>
          <p:nvPr/>
        </p:nvSpPr>
        <p:spPr>
          <a:xfrm>
            <a:off x="619125" y="4219575"/>
            <a:ext cx="5286375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Измеренные токи при известных нагрузках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восстанавливают отсутствующие режимы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в спектральной области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Синтетические сигналы дополняют обучение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D80D51-F71F-492A-8456-9F5EB8C23A61}"/>
              </a:ext>
            </a:extLst>
          </p:cNvPr>
          <p:cNvSpPr>
            <a:spLocks noGrp="1"/>
          </p:cNvSpPr>
          <p:nvPr/>
        </p:nvSpPr>
        <p:spPr>
          <a:xfrm>
            <a:off x="6429375" y="371475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Что проверяют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CD88AB9-8C20-47C3-8182-90C8B361B797}"/>
              </a:ext>
            </a:extLst>
          </p:cNvPr>
          <p:cNvSpPr>
            <a:spLocks noGrp="1"/>
          </p:cNvSpPr>
          <p:nvPr/>
        </p:nvSpPr>
        <p:spPr>
          <a:xfrm>
            <a:off x="6429375" y="4219575"/>
            <a:ext cx="5095875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Из обучения исключают диапазон нагрузок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Тестируют только на реальных сигналах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из исключённых режимов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Параметры сегментации влияют на результат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38A6111-8B75-4B15-A594-4107934B0CB6}"/>
              </a:ext>
            </a:extLst>
          </p:cNvPr>
          <p:cNvSpPr>
            <a:spLocks noGrp="1"/>
          </p:cNvSpPr>
          <p:nvPr/>
        </p:nvSpPr>
        <p:spPr>
          <a:xfrm>
            <a:off x="619125" y="58578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1">
                <a:solidFill>
                  <a:srgbClr val="008D9A"/>
                </a:solidFill>
              </a:defRPr>
            </a:defPPr>
          </a:lstStyle>
          <a:p>
            <a:pPr>
              <a:defRPr sz="1800" b="1">
                <a:solidFill>
                  <a:srgbClr val="008D9A"/>
                </a:solidFill>
              </a:defRPr>
            </a:pPr>
            <a:r>
              <a:rPr sz="1800" b="1">
                <a:solidFill>
                  <a:srgbClr val="008D9A"/>
                </a:solidFill>
              </a:rPr>
              <a:t>Для стенда: устойчивость диагностики к нагрузкам, которых не было в обучении</a:t>
            </a:r>
          </a:p>
        </p:txBody>
      </p:sp>
    </p:spTree>
    <p:extLst>
      <p:ext uri="{BB962C8B-B14F-4D97-AF65-F5344CB8AC3E}">
        <p14:creationId xmlns:p14="http://schemas.microsoft.com/office/powerpoint/2010/main" val="926518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0E0BEA-A20D-41F8-9480-EC3828252EA0}"/>
              </a:ext>
            </a:extLst>
          </p:cNvPr>
          <p:cNvSpPr>
            <a:spLocks noGrp="1"/>
          </p:cNvSpPr>
          <p:nvPr/>
        </p:nvSpPr>
        <p:spPr>
          <a:xfrm>
            <a:off x="619125" y="36195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11.3 </a:t>
            </a:r>
            <a:r>
              <a:rPr sz="2850" b="1" dirty="0">
                <a:solidFill>
                  <a:srgbClr val="12233F"/>
                </a:solidFill>
              </a:rPr>
              <a:t>ADRC с </a:t>
            </a:r>
            <a:r>
              <a:rPr sz="2850" b="1" dirty="0" err="1">
                <a:solidFill>
                  <a:srgbClr val="12233F"/>
                </a:solidFill>
              </a:rPr>
              <a:t>нейросетевой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компенсацией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для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упругого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привода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203022E-7493-4D8F-9C5E-8ACB3B4189AE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5D687A"/>
                </a:solidFill>
              </a:defRPr>
            </a:defPPr>
          </a:lstStyle>
          <a:p>
            <a:pPr>
              <a:defRPr sz="1650" b="0">
                <a:solidFill>
                  <a:srgbClr val="5D687A"/>
                </a:solidFill>
              </a:defRPr>
            </a:pPr>
            <a:r>
              <a:rPr sz="1650" b="0">
                <a:solidFill>
                  <a:srgbClr val="5D687A"/>
                </a:solidFill>
              </a:rPr>
              <a:t>Grzegorz Kaczmarczyk et al. · Hybrid ADRC-RBFNN Speed Controller Applied for a Drive with an Elastic Shaft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8261FD-6BAE-4D2E-8399-52F2519C9E52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Rajd Doktoranta 2026, сборник тезисов, с. 14. DOI: 10.37190/rado2026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74C46D3-64CB-4C46-AFFF-50F1D303FCD1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Объект управления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EC5A5DF-020A-4FCF-B09B-135A7DAB9C4B}"/>
              </a:ext>
            </a:extLst>
          </p:cNvPr>
          <p:cNvSpPr>
            <a:spLocks noGrp="1"/>
          </p:cNvSpPr>
          <p:nvPr/>
        </p:nvSpPr>
        <p:spPr>
          <a:xfrm>
            <a:off x="619125" y="2600325"/>
            <a:ext cx="5286375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Двигатель и нагрузка образуют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двухмассовую систему с упругой связью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Изменение инерции осложняет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управление скоростью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B111B5-402A-4885-931C-41250CA1F412}"/>
              </a:ext>
            </a:extLst>
          </p:cNvPr>
          <p:cNvSpPr>
            <a:spLocks noGrp="1"/>
          </p:cNvSpPr>
          <p:nvPr/>
        </p:nvSpPr>
        <p:spPr>
          <a:xfrm>
            <a:off x="6429375" y="2095500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Предлагаемый подход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415504-33D7-4090-A8E2-2A7BDCE10A7B}"/>
              </a:ext>
            </a:extLst>
          </p:cNvPr>
          <p:cNvSpPr>
            <a:spLocks noGrp="1"/>
          </p:cNvSpPr>
          <p:nvPr/>
        </p:nvSpPr>
        <p:spPr>
          <a:xfrm>
            <a:off x="6429375" y="2600325"/>
            <a:ext cx="5095875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ADRC подавляет возмущения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RBF-нейросеть обучается онлайн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 компенсирует неопределённость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параметров механической части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09D277-2A05-4A1B-AD1A-F1195545BAB0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Заявленный эффект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812378-666C-475A-801A-B7173B371843}"/>
              </a:ext>
            </a:extLst>
          </p:cNvPr>
          <p:cNvSpPr>
            <a:spLocks noGrp="1"/>
          </p:cNvSpPr>
          <p:nvPr/>
        </p:nvSpPr>
        <p:spPr>
          <a:xfrm>
            <a:off x="619125" y="4648200"/>
            <a:ext cx="5286375" cy="1381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Меньше перерегулирование скорости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Лучше реакция на момент нагрузки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Работа при увеличенной механической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постоянной времени нагрузки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1A9AFF-A8D1-432C-AE72-F2AEC19AA1D4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5095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Оценка доказательств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A5B7E4F-89B8-4FE4-97E9-1EB616D6E203}"/>
              </a:ext>
            </a:extLst>
          </p:cNvPr>
          <p:cNvSpPr>
            <a:spLocks noGrp="1"/>
          </p:cNvSpPr>
          <p:nvPr/>
        </p:nvSpPr>
        <p:spPr>
          <a:xfrm>
            <a:off x="6429375" y="4648200"/>
            <a:ext cx="5095875" cy="1381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Нет численных метрик и графиков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Не раскрыты настройка и устойчивость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Тезисы не позволяют подтвердить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объём экспериментальной проверки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FF1851-895B-43DC-963B-171F4F0DA428}"/>
              </a:ext>
            </a:extLst>
          </p:cNvPr>
          <p:cNvSpPr>
            <a:spLocks noGrp="1"/>
          </p:cNvSpPr>
          <p:nvPr/>
        </p:nvSpPr>
        <p:spPr>
          <a:xfrm>
            <a:off x="619125" y="588645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1">
                <a:solidFill>
                  <a:srgbClr val="008D9A"/>
                </a:solidFill>
              </a:defRPr>
            </a:defPPr>
          </a:lstStyle>
          <a:p>
            <a:pPr>
              <a:defRPr sz="1800" b="1">
                <a:solidFill>
                  <a:srgbClr val="008D9A"/>
                </a:solidFill>
              </a:defRPr>
            </a:pPr>
            <a:r>
              <a:rPr sz="1800" b="1">
                <a:solidFill>
                  <a:srgbClr val="008D9A"/>
                </a:solidFill>
              </a:rPr>
              <a:t>Для стенда: адаптивный контур скорости при переменной инерции и упругой трансмиссии</a:t>
            </a:r>
          </a:p>
        </p:txBody>
      </p:sp>
    </p:spTree>
    <p:extLst>
      <p:ext uri="{BB962C8B-B14F-4D97-AF65-F5344CB8AC3E}">
        <p14:creationId xmlns:p14="http://schemas.microsoft.com/office/powerpoint/2010/main" val="435839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B32E76-1A09-4D75-876D-4F3F1C2FCA5B}"/>
              </a:ext>
            </a:extLst>
          </p:cNvPr>
          <p:cNvSpPr>
            <a:spLocks noGrp="1"/>
          </p:cNvSpPr>
          <p:nvPr/>
        </p:nvSpPr>
        <p:spPr>
          <a:xfrm>
            <a:off x="619125" y="361950"/>
            <a:ext cx="1095375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11.4 </a:t>
            </a:r>
            <a:r>
              <a:rPr sz="2850" b="1" dirty="0" err="1">
                <a:solidFill>
                  <a:srgbClr val="12233F"/>
                </a:solidFill>
              </a:rPr>
              <a:t>Управление</a:t>
            </a:r>
            <a:r>
              <a:rPr sz="2850" b="1" dirty="0">
                <a:solidFill>
                  <a:srgbClr val="12233F"/>
                </a:solidFill>
              </a:rPr>
              <a:t> PMSM и </a:t>
            </a:r>
            <a:r>
              <a:rPr sz="2850" b="1" dirty="0" err="1">
                <a:solidFill>
                  <a:srgbClr val="12233F"/>
                </a:solidFill>
              </a:rPr>
              <a:t>измерение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динамических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режимов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53FA66-0E2F-42FC-ABE9-7FA7077BFAE8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0">
                <a:solidFill>
                  <a:srgbClr val="5D687A"/>
                </a:solidFill>
              </a:defRPr>
            </a:defPPr>
          </a:lstStyle>
          <a:p>
            <a:pPr>
              <a:defRPr sz="1650" b="0">
                <a:solidFill>
                  <a:srgbClr val="5D687A"/>
                </a:solidFill>
              </a:defRPr>
            </a:pPr>
            <a:r>
              <a:rPr sz="1650" b="0">
                <a:solidFill>
                  <a:srgbClr val="5D687A"/>
                </a:solidFill>
              </a:rPr>
              <a:t>Adam Kamiński · Control Methods of PMSM Electric Motors and Measurements of Dynamic States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BB4E84-D338-4F28-BF12-EB248F135A40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Rajd Doktoranta 2026, сборник тезисов, с. 15. DOI: 10.37190/rado2026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723331-053F-4F71-B4A3-10F95BB8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415" y="2190750"/>
            <a:ext cx="6037795" cy="36385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E73935-4818-4C9B-9087-34287F098A72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Содержание работы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AA2B6A-9923-4DDC-B1F3-F709ECBD1F85}"/>
              </a:ext>
            </a:extLst>
          </p:cNvPr>
          <p:cNvSpPr>
            <a:spLocks noGrp="1"/>
          </p:cNvSpPr>
          <p:nvPr/>
        </p:nvSpPr>
        <p:spPr>
          <a:xfrm>
            <a:off x="7239000" y="2600325"/>
            <a:ext cx="4333875" cy="1190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FOC с PI-регуляторами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Преобразования Clarke и Park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SVM и каскадные обратные связи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5F8250-F0E7-4CC6-8B0E-160B8A482ED6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Измерения и продолжение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EAB39D-3A85-45E8-BB82-ADAFDA039619}"/>
              </a:ext>
            </a:extLst>
          </p:cNvPr>
          <p:cNvSpPr>
            <a:spLocks noGrp="1"/>
          </p:cNvSpPr>
          <p:nvPr/>
        </p:nvSpPr>
        <p:spPr>
          <a:xfrm>
            <a:off x="7239000" y="4600575"/>
            <a:ext cx="4333875" cy="12858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Автор заявляет измерение ЭДС,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фазных токов и скорости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Выделяет задачи автоидентификации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и учёта тепловых эффектов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3DA318F-F9EA-46EC-9363-FBE75A73674E}"/>
              </a:ext>
            </a:extLst>
          </p:cNvPr>
          <p:cNvSpPr>
            <a:spLocks noGrp="1"/>
          </p:cNvSpPr>
          <p:nvPr/>
        </p:nvSpPr>
        <p:spPr>
          <a:xfrm>
            <a:off x="619125" y="5924550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1">
                <a:solidFill>
                  <a:srgbClr val="008D9A"/>
                </a:solidFill>
              </a:defRPr>
            </a:defPPr>
          </a:lstStyle>
          <a:p>
            <a:pPr>
              <a:defRPr sz="1725" b="1">
                <a:solidFill>
                  <a:srgbClr val="008D9A"/>
                </a:solidFill>
              </a:defRPr>
            </a:pPr>
            <a:r>
              <a:rPr sz="1725" b="1">
                <a:solidFill>
                  <a:srgbClr val="008D9A"/>
                </a:solidFill>
              </a:rPr>
              <a:t>Для стенда: базовая архитектура и протокол измерений. Новизна по тезисам ограничена</a:t>
            </a:r>
          </a:p>
        </p:txBody>
      </p:sp>
    </p:spTree>
    <p:extLst>
      <p:ext uri="{BB962C8B-B14F-4D97-AF65-F5344CB8AC3E}">
        <p14:creationId xmlns:p14="http://schemas.microsoft.com/office/powerpoint/2010/main" val="2006955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6D183AD-86E1-4354-90E1-639DEAC35AE5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12. </a:t>
            </a:r>
            <a:r>
              <a:rPr sz="2850" b="1" dirty="0" err="1">
                <a:solidFill>
                  <a:srgbClr val="12233F"/>
                </a:solidFill>
              </a:rPr>
              <a:t>Оптимизация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аморфного</a:t>
            </a:r>
            <a:r>
              <a:rPr sz="2850" b="1" dirty="0">
                <a:solidFill>
                  <a:srgbClr val="12233F"/>
                </a:solidFill>
              </a:rPr>
              <a:t> IPMSM </a:t>
            </a:r>
            <a:r>
              <a:rPr sz="2850" b="1" dirty="0" err="1">
                <a:solidFill>
                  <a:srgbClr val="12233F"/>
                </a:solidFill>
              </a:rPr>
              <a:t>по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ездовому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циклу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E89D71D-3F4E-469F-AB48-751B46FB5FA3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Kai Tang et al., Journal of Power Electronics, 2026. DOI: 10.1007/s43236-026-01401-5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67430B-59D5-454F-8169-693E11A7A910}"/>
              </a:ext>
            </a:extLst>
          </p:cNvPr>
          <p:cNvSpPr>
            <a:spLocks noGrp="1"/>
          </p:cNvSpPr>
          <p:nvPr/>
        </p:nvSpPr>
        <p:spPr>
          <a:xfrm>
            <a:off x="619125" y="14478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950" b="1">
                <a:solidFill>
                  <a:srgbClr val="12233F"/>
                </a:solidFill>
              </a:defRPr>
            </a:defPPr>
          </a:lstStyle>
          <a:p>
            <a:pPr>
              <a:defRPr sz="1950" b="1">
                <a:solidFill>
                  <a:srgbClr val="12233F"/>
                </a:solidFill>
              </a:defRPr>
            </a:pPr>
            <a:r>
              <a:rPr sz="1950" b="1">
                <a:solidFill>
                  <a:srgbClr val="12233F"/>
                </a:solidFill>
              </a:rPr>
              <a:t>Двухслойный V-ротор и аморфный статор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8509B1-58C8-4F75-AEE0-885FFA9A3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0134" y="2143125"/>
            <a:ext cx="4967233" cy="37147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C12E8A-8463-46E4-BE05-2BF83A796D4C}"/>
              </a:ext>
            </a:extLst>
          </p:cNvPr>
          <p:cNvSpPr>
            <a:spLocks noGrp="1"/>
          </p:cNvSpPr>
          <p:nvPr/>
        </p:nvSpPr>
        <p:spPr>
          <a:xfrm>
            <a:off x="6762750" y="147637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Метод расчёта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87F599-82E7-47E5-842B-52312292DF78}"/>
              </a:ext>
            </a:extLst>
          </p:cNvPr>
          <p:cNvSpPr>
            <a:spLocks noGrp="1"/>
          </p:cNvSpPr>
          <p:nvPr/>
        </p:nvSpPr>
        <p:spPr>
          <a:xfrm>
            <a:off x="6762750" y="2000250"/>
            <a:ext cx="4762500" cy="1390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CLTC-P: 6 режимов через K-means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Соболь: выбор значимых параметров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FEM и поверхности отклика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NSGA-II: фронт Парето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03FAD4-A4AE-4EB0-B7DB-63DC7410CC41}"/>
              </a:ext>
            </a:extLst>
          </p:cNvPr>
          <p:cNvSpPr>
            <a:spLocks noGrp="1"/>
          </p:cNvSpPr>
          <p:nvPr/>
        </p:nvSpPr>
        <p:spPr>
          <a:xfrm>
            <a:off x="6762750" y="38100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Цели и переменные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D897D3-EEEF-4B09-8C75-A64C9C90F4E6}"/>
              </a:ext>
            </a:extLst>
          </p:cNvPr>
          <p:cNvSpPr>
            <a:spLocks noGrp="1"/>
          </p:cNvSpPr>
          <p:nvPr/>
        </p:nvSpPr>
        <p:spPr>
          <a:xfrm>
            <a:off x="6762750" y="43434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Момент, пульсации, КПД и стоимость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Меняются магниты, воздушный зазор,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зубец статора и раскрытие паза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489683-64E2-4CE7-A0F6-9E1B8B275BB1}"/>
              </a:ext>
            </a:extLst>
          </p:cNvPr>
          <p:cNvSpPr>
            <a:spLocks noGrp="1"/>
          </p:cNvSpPr>
          <p:nvPr/>
        </p:nvSpPr>
        <p:spPr>
          <a:xfrm>
            <a:off x="619125" y="59721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1">
                <a:solidFill>
                  <a:srgbClr val="008D9A"/>
                </a:solidFill>
              </a:defRPr>
            </a:defPPr>
          </a:lstStyle>
          <a:p>
            <a:pPr>
              <a:defRPr sz="1800" b="1">
                <a:solidFill>
                  <a:srgbClr val="008D9A"/>
                </a:solidFill>
              </a:defRPr>
            </a:pPr>
            <a:r>
              <a:rPr sz="1800" b="1">
                <a:solidFill>
                  <a:srgbClr val="008D9A"/>
                </a:solidFill>
              </a:rPr>
              <a:t>Для вашего проекта: метод применим к 2V/VU с фиксированным статором</a:t>
            </a:r>
          </a:p>
        </p:txBody>
      </p:sp>
    </p:spTree>
    <p:extLst>
      <p:ext uri="{BB962C8B-B14F-4D97-AF65-F5344CB8AC3E}">
        <p14:creationId xmlns:p14="http://schemas.microsoft.com/office/powerpoint/2010/main" val="1720969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9195A3E-B147-4672-9574-75E6B343C68F}"/>
              </a:ext>
            </a:extLst>
          </p:cNvPr>
          <p:cNvSpPr>
            <a:spLocks noGrp="1"/>
          </p:cNvSpPr>
          <p:nvPr/>
        </p:nvSpPr>
        <p:spPr>
          <a:xfrm>
            <a:off x="619125" y="3810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233F"/>
                </a:solidFill>
              </a:defRPr>
            </a:defPPr>
          </a:lstStyle>
          <a:p>
            <a:pPr>
              <a:defRPr sz="2850" b="1">
                <a:solidFill>
                  <a:srgbClr val="12233F"/>
                </a:solidFill>
              </a:defRPr>
            </a:pPr>
            <a:r>
              <a:rPr lang="en-US" sz="2850" b="1" dirty="0">
                <a:solidFill>
                  <a:srgbClr val="12233F"/>
                </a:solidFill>
              </a:rPr>
              <a:t>12. </a:t>
            </a:r>
            <a:r>
              <a:rPr sz="2850" b="1" dirty="0" err="1">
                <a:solidFill>
                  <a:srgbClr val="12233F"/>
                </a:solidFill>
              </a:rPr>
              <a:t>Расчётные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результаты</a:t>
            </a:r>
            <a:r>
              <a:rPr sz="2850" b="1" dirty="0">
                <a:solidFill>
                  <a:srgbClr val="12233F"/>
                </a:solidFill>
              </a:rPr>
              <a:t> и </a:t>
            </a:r>
            <a:r>
              <a:rPr sz="2850" b="1" dirty="0" err="1">
                <a:solidFill>
                  <a:srgbClr val="12233F"/>
                </a:solidFill>
              </a:rPr>
              <a:t>проверка</a:t>
            </a:r>
            <a:r>
              <a:rPr sz="2850" b="1" dirty="0">
                <a:solidFill>
                  <a:srgbClr val="12233F"/>
                </a:solidFill>
              </a:rPr>
              <a:t> </a:t>
            </a:r>
            <a:r>
              <a:rPr sz="2850" b="1" dirty="0" err="1">
                <a:solidFill>
                  <a:srgbClr val="12233F"/>
                </a:solidFill>
              </a:rPr>
              <a:t>прототипа</a:t>
            </a:r>
            <a:endParaRPr sz="2850" b="1" dirty="0">
              <a:solidFill>
                <a:srgbClr val="12233F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AFDB0A-D348-4563-8839-EB895147D580}"/>
              </a:ext>
            </a:extLst>
          </p:cNvPr>
          <p:cNvSpPr>
            <a:spLocks noGrp="1"/>
          </p:cNvSpPr>
          <p:nvPr/>
        </p:nvSpPr>
        <p:spPr>
          <a:xfrm>
            <a:off x="619125" y="6477000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050" b="0">
                <a:solidFill>
                  <a:srgbClr val="5D687A"/>
                </a:solidFill>
              </a:defRPr>
            </a:defPPr>
          </a:lstStyle>
          <a:p>
            <a:pPr>
              <a:defRPr sz="1050" b="0">
                <a:solidFill>
                  <a:srgbClr val="5D687A"/>
                </a:solidFill>
              </a:defRPr>
            </a:pPr>
            <a:r>
              <a:rPr sz="1050" b="0">
                <a:solidFill>
                  <a:srgbClr val="5D687A"/>
                </a:solidFill>
              </a:rPr>
              <a:t>Kai Tang et al., Journal of Power Electronics, 2026. DOI: 10.1007/s43236-026-01401-5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09DDEF4-C337-49A0-A305-054021C2AF78}"/>
              </a:ext>
            </a:extLst>
          </p:cNvPr>
          <p:cNvGraphicFramePr/>
          <p:nvPr/>
        </p:nvGraphicFramePr>
        <p:xfrm>
          <a:off x="619125" y="1619250"/>
          <a:ext cx="6191250" cy="27146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Показатель</a:t>
                      </a:r>
                    </a:p>
                  </a:txBody>
                  <a:tcPr marL="95250" marR="76200" marT="76200" marB="76200">
                    <a:lnL w="9525">
                      <a:solidFill>
                        <a:srgbClr val="D4DCE7"/>
                      </a:solidFill>
                      <a:prstDash val="soli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>
                      <a:solidFill>
                        <a:srgbClr val="D4DCE7"/>
                      </a:solidFill>
                      <a:prstDash val="soli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Исходный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>
                      <a:solidFill>
                        <a:srgbClr val="D4DCE7"/>
                      </a:solidFill>
                      <a:prstDash val="soli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Оптимум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>
                      <a:solidFill>
                        <a:srgbClr val="D4DCE7"/>
                      </a:solidFill>
                      <a:prstDash val="soli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Пиковый момент, Н·м</a:t>
                      </a:r>
                    </a:p>
                  </a:txBody>
                  <a:tcPr marL="95250" marR="76200" marT="76200" marB="76200">
                    <a:lnL w="9525">
                      <a:solidFill>
                        <a:srgbClr val="D4DCE7"/>
                      </a:solidFill>
                      <a:prstDash val="soli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377,5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D9A"/>
                          </a:solidFill>
                        </a:rPr>
                        <a:t>390,5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Пульсации момента, %</a:t>
                      </a:r>
                    </a:p>
                  </a:txBody>
                  <a:tcPr marL="95250" marR="76200" marT="76200" marB="76200">
                    <a:lnL w="9525">
                      <a:solidFill>
                        <a:srgbClr val="D4DCE7"/>
                      </a:solidFill>
                      <a:prstDash val="soli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2,8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D9A"/>
                          </a:solidFill>
                        </a:rPr>
                        <a:t>1,5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КПД по циклу, %</a:t>
                      </a:r>
                    </a:p>
                  </a:txBody>
                  <a:tcPr marL="95250" marR="76200" marT="76200" marB="76200">
                    <a:lnL w="9525">
                      <a:solidFill>
                        <a:srgbClr val="D4DCE7"/>
                      </a:solidFill>
                      <a:prstDash val="soli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94,0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D9A"/>
                          </a:solidFill>
                        </a:rPr>
                        <a:t>95,5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Материалы, USD</a:t>
                      </a:r>
                    </a:p>
                  </a:txBody>
                  <a:tcPr marL="95250" marR="76200" marT="76200" marB="76200">
                    <a:lnL w="9525">
                      <a:solidFill>
                        <a:srgbClr val="D4DCE7"/>
                      </a:solidFill>
                      <a:prstDash val="soli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033"/>
                          </a:solidFill>
                        </a:rPr>
                        <a:t>294,72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8D9A"/>
                          </a:solidFill>
                        </a:rPr>
                        <a:t>291,13</a:t>
                      </a:r>
                    </a:p>
                  </a:txBody>
                  <a:tcPr marL="95250" marR="76200" marT="76200" marB="76200">
                    <a:lnL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CE7"/>
                      </a:solidFill>
                      <a:prstDash val="solid"/>
                    </a:lnR>
                    <a:lnT w="9525" cap="flat" cmpd="sng" algn="ctr">
                      <a:solidFill>
                        <a:srgbClr val="D4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3F7C0E-841D-4A5C-AA54-B6C708FCAF60}"/>
              </a:ext>
            </a:extLst>
          </p:cNvPr>
          <p:cNvSpPr>
            <a:spLocks noGrp="1"/>
          </p:cNvSpPr>
          <p:nvPr/>
        </p:nvSpPr>
        <p:spPr>
          <a:xfrm>
            <a:off x="7239000" y="1619250"/>
            <a:ext cx="4333875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Прототип на стенде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88BE59-2FBF-4B83-9B1E-ECE8C25231B6}"/>
              </a:ext>
            </a:extLst>
          </p:cNvPr>
          <p:cNvSpPr>
            <a:spLocks noGrp="1"/>
          </p:cNvSpPr>
          <p:nvPr/>
        </p:nvSpPr>
        <p:spPr>
          <a:xfrm>
            <a:off x="7239000" y="2114550"/>
            <a:ext cx="4333875" cy="9810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800" b="0">
                <a:solidFill>
                  <a:srgbClr val="172033"/>
                </a:solidFill>
              </a:defRPr>
            </a:defPPr>
          </a:lstStyle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Пиковый момент: 388 Н·м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КПД по измеренной карте: 95,3%</a:t>
            </a:r>
          </a:p>
          <a:p>
            <a:pPr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Авторы заявляют пульсации ≈2%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29CEEA-CCDC-4D05-885C-E512C99397A9}"/>
              </a:ext>
            </a:extLst>
          </p:cNvPr>
          <p:cNvSpPr>
            <a:spLocks noGrp="1"/>
          </p:cNvSpPr>
          <p:nvPr/>
        </p:nvSpPr>
        <p:spPr>
          <a:xfrm>
            <a:off x="7239000" y="3552825"/>
            <a:ext cx="4333875" cy="3524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025" b="1">
                <a:solidFill>
                  <a:srgbClr val="12233F"/>
                </a:solidFill>
              </a:defRPr>
            </a:defPPr>
          </a:lstStyle>
          <a:p>
            <a:pPr>
              <a:defRPr sz="2025" b="1">
                <a:solidFill>
                  <a:srgbClr val="12233F"/>
                </a:solidFill>
              </a:defRPr>
            </a:pPr>
            <a:r>
              <a:rPr sz="2025" b="1">
                <a:solidFill>
                  <a:srgbClr val="12233F"/>
                </a:solidFill>
              </a:rPr>
              <a:t>Границы результата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A44397-CB0E-426A-8604-AC6CB38B44EC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4333875" cy="1143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Рекуперацию исключают из оптимизации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Стоимость включает только материалы</a:t>
            </a:r>
          </a:p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КПД цикла считают по стационарной карте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4EF99E-A951-40E6-9E57-C13086B5E106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61912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775" b="1">
                <a:solidFill>
                  <a:srgbClr val="008D9A"/>
                </a:solidFill>
              </a:defRPr>
            </a:defPPr>
          </a:lstStyle>
          <a:p>
            <a:pPr>
              <a:defRPr sz="2775" b="1">
                <a:solidFill>
                  <a:srgbClr val="008D9A"/>
                </a:solidFill>
              </a:defRPr>
            </a:pPr>
            <a:r>
              <a:rPr sz="2775" b="1">
                <a:solidFill>
                  <a:srgbClr val="008D9A"/>
                </a:solidFill>
              </a:rPr>
              <a:t>+1,5 п.п. КПД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A1FE1C-7BB8-4431-9A50-CC592BCD3206}"/>
              </a:ext>
            </a:extLst>
          </p:cNvPr>
          <p:cNvSpPr>
            <a:spLocks noGrp="1"/>
          </p:cNvSpPr>
          <p:nvPr/>
        </p:nvSpPr>
        <p:spPr>
          <a:xfrm>
            <a:off x="619125" y="52863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0">
                <a:solidFill>
                  <a:srgbClr val="172033"/>
                </a:solidFill>
              </a:defRPr>
            </a:defPPr>
          </a:lstStyle>
          <a:p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Экономия материалов: 3,59 USD, около 1,2%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D8F83F2-CC43-4C74-A34A-5BB782A529B6}"/>
              </a:ext>
            </a:extLst>
          </p:cNvPr>
          <p:cNvSpPr>
            <a:spLocks noGrp="1"/>
          </p:cNvSpPr>
          <p:nvPr/>
        </p:nvSpPr>
        <p:spPr>
          <a:xfrm>
            <a:off x="619125" y="591502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725" b="1">
                <a:solidFill>
                  <a:srgbClr val="12233F"/>
                </a:solidFill>
              </a:defRPr>
            </a:defPPr>
          </a:lstStyle>
          <a:p>
            <a:pPr>
              <a:defRPr sz="1725" b="1">
                <a:solidFill>
                  <a:srgbClr val="12233F"/>
                </a:solidFill>
              </a:defRPr>
            </a:pPr>
            <a:r>
              <a:rPr sz="1725" b="1">
                <a:solidFill>
                  <a:srgbClr val="12233F"/>
                </a:solidFill>
              </a:rPr>
              <a:t>Вопрос к пульсациям: указан шаг регистрации 0,1 с, недостаточный для быстрых гармоник</a:t>
            </a:r>
          </a:p>
        </p:txBody>
      </p:sp>
    </p:spTree>
    <p:extLst>
      <p:ext uri="{BB962C8B-B14F-4D97-AF65-F5344CB8AC3E}">
        <p14:creationId xmlns:p14="http://schemas.microsoft.com/office/powerpoint/2010/main" val="197833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3B11F-821A-42B2-9C4C-898A87A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 следует …</a:t>
            </a:r>
          </a:p>
        </p:txBody>
      </p:sp>
    </p:spTree>
    <p:extLst>
      <p:ext uri="{BB962C8B-B14F-4D97-AF65-F5344CB8AC3E}">
        <p14:creationId xmlns:p14="http://schemas.microsoft.com/office/powerpoint/2010/main" val="3020409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2561</Words>
  <Application>Microsoft Office PowerPoint</Application>
  <DocSecurity>0</DocSecurity>
  <PresentationFormat>Широкоэкранный</PresentationFormat>
  <Paragraphs>478</Paragraphs>
  <Slides>27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27</vt:i4>
      </vt:variant>
    </vt:vector>
  </HeadingPairs>
  <TitlesOfParts>
    <vt:vector size="41" baseType="lpstr">
      <vt:lpstr>Aptos</vt:lpstr>
      <vt:lpstr>Arial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14.10.2026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Продолжение следует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Канурин Дмитрий Александрович</cp:lastModifiedBy>
  <cp:revision>2</cp:revision>
  <dcterms:created xsi:type="dcterms:W3CDTF">2026-10-12T08:15:35Z</dcterms:created>
  <dcterms:modified xsi:type="dcterms:W3CDTF">2026-10-16T07:57:41Z</dcterms:modified>
</cp:coreProperties>
</file>